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9" r:id="rId3"/>
    <p:sldId id="272" r:id="rId4"/>
    <p:sldId id="271" r:id="rId5"/>
    <p:sldId id="257" r:id="rId6"/>
    <p:sldId id="260" r:id="rId7"/>
    <p:sldId id="261" r:id="rId8"/>
    <p:sldId id="263" r:id="rId9"/>
    <p:sldId id="286" r:id="rId10"/>
    <p:sldId id="258" r:id="rId11"/>
    <p:sldId id="285"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6" d="100"/>
          <a:sy n="66" d="100"/>
        </p:scale>
        <p:origin x="668"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Keshav Memorial Engineering College</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4E170EF-85EC-4019-A4C7-422493D86A72}" type="datetimeFigureOut">
              <a:rPr lang="en-IN" smtClean="0"/>
              <a:t>13-11-2025</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AAEC1EF-D3FB-48F5-A382-F20E8F7D76E5}" type="slidenum">
              <a:rPr lang="en-IN" smtClean="0"/>
              <a:t>‹#›</a:t>
            </a:fld>
            <a:endParaRPr lang="en-IN"/>
          </a:p>
        </p:txBody>
      </p:sp>
    </p:spTree>
    <p:extLst>
      <p:ext uri="{BB962C8B-B14F-4D97-AF65-F5344CB8AC3E}">
        <p14:creationId xmlns:p14="http://schemas.microsoft.com/office/powerpoint/2010/main" val="1948627503"/>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Keshav Memorial Engineering College</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91B320-B563-4656-9162-6043F265051A}" type="datetimeFigureOut">
              <a:rPr lang="en-IN" smtClean="0"/>
              <a:t>13-11-2025</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9023C5-91CE-4DF7-A8A0-0F6177D4ED65}" type="slidenum">
              <a:rPr lang="en-IN" smtClean="0"/>
              <a:t>‹#›</a:t>
            </a:fld>
            <a:endParaRPr lang="en-IN"/>
          </a:p>
        </p:txBody>
      </p:sp>
    </p:spTree>
    <p:extLst>
      <p:ext uri="{BB962C8B-B14F-4D97-AF65-F5344CB8AC3E}">
        <p14:creationId xmlns:p14="http://schemas.microsoft.com/office/powerpoint/2010/main" val="4280378956"/>
      </p:ext>
    </p:extLst>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5" name="Header Placeholder 4"/>
          <p:cNvSpPr>
            <a:spLocks noGrp="1"/>
          </p:cNvSpPr>
          <p:nvPr>
            <p:ph type="hdr" sz="quarter" idx="11"/>
          </p:nvPr>
        </p:nvSpPr>
        <p:spPr/>
        <p:txBody>
          <a:bodyPr/>
          <a:lstStyle/>
          <a:p>
            <a:r>
              <a:rPr lang="en-IN"/>
              <a:t>Keshav Memorial Engineering College</a:t>
            </a:r>
          </a:p>
        </p:txBody>
      </p:sp>
    </p:spTree>
    <p:extLst>
      <p:ext uri="{BB962C8B-B14F-4D97-AF65-F5344CB8AC3E}">
        <p14:creationId xmlns:p14="http://schemas.microsoft.com/office/powerpoint/2010/main" val="3911930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IN"/>
              <a:t>Keshav Memorial Engineering College</a:t>
            </a:r>
          </a:p>
        </p:txBody>
      </p:sp>
    </p:spTree>
    <p:extLst>
      <p:ext uri="{BB962C8B-B14F-4D97-AF65-F5344CB8AC3E}">
        <p14:creationId xmlns:p14="http://schemas.microsoft.com/office/powerpoint/2010/main" val="1215766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IN"/>
              <a:t>Keshav Memorial Engineering College</a:t>
            </a:r>
          </a:p>
        </p:txBody>
      </p:sp>
    </p:spTree>
    <p:extLst>
      <p:ext uri="{BB962C8B-B14F-4D97-AF65-F5344CB8AC3E}">
        <p14:creationId xmlns:p14="http://schemas.microsoft.com/office/powerpoint/2010/main" val="3297334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BD1E53-9606-83B1-B179-B68B3A10A861}"/>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051EE4-9EE8-C1D8-D9AF-A4B0F7F62390}"/>
              </a:ext>
            </a:extLst>
          </p:cNvPr>
          <p:cNvSpPr>
            <a:spLocks noGrp="1"/>
          </p:cNvSpPr>
          <p:nvPr>
            <p:ph type="dt" sz="half" idx="10"/>
          </p:nvPr>
        </p:nvSpPr>
        <p:spPr/>
        <p:txBody>
          <a:bodyPr/>
          <a:lstStyle/>
          <a:p>
            <a:fld id="{EF3AA72A-7354-45E8-A83A-7F65F89C370A}" type="datetime1">
              <a:rPr lang="en-IN" smtClean="0"/>
              <a:t>13-11-2025</a:t>
            </a:fld>
            <a:endParaRPr lang="en-IN" dirty="0"/>
          </a:p>
        </p:txBody>
      </p:sp>
      <p:sp>
        <p:nvSpPr>
          <p:cNvPr id="5" name="Footer Placeholder 4">
            <a:extLst>
              <a:ext uri="{FF2B5EF4-FFF2-40B4-BE49-F238E27FC236}">
                <a16:creationId xmlns:a16="http://schemas.microsoft.com/office/drawing/2014/main" id="{EF74CD2A-B4AC-513B-8B79-C07B4D91F8BD}"/>
              </a:ext>
            </a:extLst>
          </p:cNvPr>
          <p:cNvSpPr>
            <a:spLocks noGrp="1"/>
          </p:cNvSpPr>
          <p:nvPr>
            <p:ph type="ftr" sz="quarter" idx="11"/>
          </p:nvPr>
        </p:nvSpPr>
        <p:spPr/>
        <p:txBody>
          <a:bodyPr/>
          <a:lstStyle/>
          <a:p>
            <a:r>
              <a:rPr lang="en-IN"/>
              <a:t>Dept. of CSE(AI &amp; ML)</a:t>
            </a:r>
            <a:endParaRPr lang="en-IN" dirty="0"/>
          </a:p>
        </p:txBody>
      </p:sp>
      <p:sp>
        <p:nvSpPr>
          <p:cNvPr id="6" name="Slide Number Placeholder 5">
            <a:extLst>
              <a:ext uri="{FF2B5EF4-FFF2-40B4-BE49-F238E27FC236}">
                <a16:creationId xmlns:a16="http://schemas.microsoft.com/office/drawing/2014/main" id="{A9A2A470-8058-D020-88BE-6FE8FFB3FEC5}"/>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78648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3174E-AF0E-71F2-7CB1-0B12E5C7016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44A783-547C-C95C-8C4A-68B64732116D}"/>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F41108-7AF5-A8BC-5B9C-C4A94678AAEA}"/>
              </a:ext>
            </a:extLst>
          </p:cNvPr>
          <p:cNvSpPr>
            <a:spLocks noGrp="1"/>
          </p:cNvSpPr>
          <p:nvPr>
            <p:ph type="dt" sz="half" idx="10"/>
          </p:nvPr>
        </p:nvSpPr>
        <p:spPr/>
        <p:txBody>
          <a:bodyPr/>
          <a:lstStyle/>
          <a:p>
            <a:fld id="{682AC585-1645-46F5-ACA9-835D8AC4E55F}" type="datetime1">
              <a:rPr lang="en-IN" smtClean="0"/>
              <a:t>13-11-2025</a:t>
            </a:fld>
            <a:endParaRPr lang="en-IN" dirty="0"/>
          </a:p>
        </p:txBody>
      </p:sp>
      <p:sp>
        <p:nvSpPr>
          <p:cNvPr id="5" name="Footer Placeholder 4">
            <a:extLst>
              <a:ext uri="{FF2B5EF4-FFF2-40B4-BE49-F238E27FC236}">
                <a16:creationId xmlns:a16="http://schemas.microsoft.com/office/drawing/2014/main" id="{F2820C42-94DD-936D-131A-4B0B34167413}"/>
              </a:ext>
            </a:extLst>
          </p:cNvPr>
          <p:cNvSpPr>
            <a:spLocks noGrp="1"/>
          </p:cNvSpPr>
          <p:nvPr>
            <p:ph type="ftr" sz="quarter" idx="11"/>
          </p:nvPr>
        </p:nvSpPr>
        <p:spPr/>
        <p:txBody>
          <a:bodyPr/>
          <a:lstStyle/>
          <a:p>
            <a:r>
              <a:rPr lang="en-IN"/>
              <a:t>Dept. of CSE(AI &amp; ML)</a:t>
            </a:r>
            <a:endParaRPr lang="en-IN" dirty="0"/>
          </a:p>
        </p:txBody>
      </p:sp>
      <p:sp>
        <p:nvSpPr>
          <p:cNvPr id="6" name="Slide Number Placeholder 5">
            <a:extLst>
              <a:ext uri="{FF2B5EF4-FFF2-40B4-BE49-F238E27FC236}">
                <a16:creationId xmlns:a16="http://schemas.microsoft.com/office/drawing/2014/main" id="{9B0E01F9-86EC-DCE7-B098-043CDB630E6E}"/>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33895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5E9CA-2D20-D3F9-AF08-33BD76DAE47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6EF0A0-48F2-CC82-49BB-8928DC27616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767775-A276-7581-69C8-5A1EC972C8D2}"/>
              </a:ext>
            </a:extLst>
          </p:cNvPr>
          <p:cNvSpPr>
            <a:spLocks noGrp="1"/>
          </p:cNvSpPr>
          <p:nvPr>
            <p:ph type="dt" sz="half" idx="10"/>
          </p:nvPr>
        </p:nvSpPr>
        <p:spPr/>
        <p:txBody>
          <a:bodyPr/>
          <a:lstStyle/>
          <a:p>
            <a:fld id="{4F62B8CF-7082-4698-8DF4-B331B0CB5D1D}" type="datetime1">
              <a:rPr lang="en-IN" smtClean="0"/>
              <a:t>13-11-2025</a:t>
            </a:fld>
            <a:endParaRPr lang="en-IN" dirty="0"/>
          </a:p>
        </p:txBody>
      </p:sp>
      <p:sp>
        <p:nvSpPr>
          <p:cNvPr id="5" name="Footer Placeholder 4">
            <a:extLst>
              <a:ext uri="{FF2B5EF4-FFF2-40B4-BE49-F238E27FC236}">
                <a16:creationId xmlns:a16="http://schemas.microsoft.com/office/drawing/2014/main" id="{29DC4D8B-63BF-BF22-7794-E2E36D92C219}"/>
              </a:ext>
            </a:extLst>
          </p:cNvPr>
          <p:cNvSpPr>
            <a:spLocks noGrp="1"/>
          </p:cNvSpPr>
          <p:nvPr>
            <p:ph type="ftr" sz="quarter" idx="11"/>
          </p:nvPr>
        </p:nvSpPr>
        <p:spPr/>
        <p:txBody>
          <a:bodyPr/>
          <a:lstStyle/>
          <a:p>
            <a:r>
              <a:rPr lang="en-IN"/>
              <a:t>Dept. of CSE(AI &amp; ML)</a:t>
            </a:r>
            <a:endParaRPr lang="en-IN" dirty="0"/>
          </a:p>
        </p:txBody>
      </p:sp>
      <p:sp>
        <p:nvSpPr>
          <p:cNvPr id="6" name="Slide Number Placeholder 5">
            <a:extLst>
              <a:ext uri="{FF2B5EF4-FFF2-40B4-BE49-F238E27FC236}">
                <a16:creationId xmlns:a16="http://schemas.microsoft.com/office/drawing/2014/main" id="{633B9271-BD64-FDF1-C861-152C5119CB53}"/>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1020938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7810A-9227-873B-C9DD-846AFA6A8C5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53E259-2D56-6DF1-51DA-0F8FD63BA90D}"/>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F61541F-B292-4D09-2DD0-D16EB621D15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BA141B3-B0A7-BA6F-2214-6541DE0BA6B7}"/>
              </a:ext>
            </a:extLst>
          </p:cNvPr>
          <p:cNvSpPr>
            <a:spLocks noGrp="1"/>
          </p:cNvSpPr>
          <p:nvPr>
            <p:ph type="dt" sz="half" idx="10"/>
          </p:nvPr>
        </p:nvSpPr>
        <p:spPr/>
        <p:txBody>
          <a:bodyPr/>
          <a:lstStyle/>
          <a:p>
            <a:fld id="{82016EC5-60FB-4A2F-B18F-F169D238ADA2}" type="datetime1">
              <a:rPr lang="en-IN" smtClean="0"/>
              <a:t>13-11-2025</a:t>
            </a:fld>
            <a:endParaRPr lang="en-IN" dirty="0"/>
          </a:p>
        </p:txBody>
      </p:sp>
      <p:sp>
        <p:nvSpPr>
          <p:cNvPr id="6" name="Footer Placeholder 5">
            <a:extLst>
              <a:ext uri="{FF2B5EF4-FFF2-40B4-BE49-F238E27FC236}">
                <a16:creationId xmlns:a16="http://schemas.microsoft.com/office/drawing/2014/main" id="{D9CE27A8-CACF-6D4B-84D6-F541BDC789DD}"/>
              </a:ext>
            </a:extLst>
          </p:cNvPr>
          <p:cNvSpPr>
            <a:spLocks noGrp="1"/>
          </p:cNvSpPr>
          <p:nvPr>
            <p:ph type="ftr" sz="quarter" idx="11"/>
          </p:nvPr>
        </p:nvSpPr>
        <p:spPr/>
        <p:txBody>
          <a:bodyPr/>
          <a:lstStyle/>
          <a:p>
            <a:r>
              <a:rPr lang="en-IN"/>
              <a:t>Dept. of CSE(AI &amp; ML)</a:t>
            </a:r>
            <a:endParaRPr lang="en-IN" dirty="0"/>
          </a:p>
        </p:txBody>
      </p:sp>
      <p:sp>
        <p:nvSpPr>
          <p:cNvPr id="7" name="Slide Number Placeholder 6">
            <a:extLst>
              <a:ext uri="{FF2B5EF4-FFF2-40B4-BE49-F238E27FC236}">
                <a16:creationId xmlns:a16="http://schemas.microsoft.com/office/drawing/2014/main" id="{3C2E59DF-C3F6-5A28-A784-9659E38AD68A}"/>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3174211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97C8F-9A94-B1EE-5EC6-B1725A9BF63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576E1E-C735-1352-1C9B-A9737D8F4924}"/>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1130AB-3553-EA4E-D80F-BD71FF849894}"/>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2A82EC9-0866-6D37-2398-413552B1D51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65E36B-437F-2AAF-E3B5-667378268AF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3D08C7B-C657-F617-F019-E34B45F458FA}"/>
              </a:ext>
            </a:extLst>
          </p:cNvPr>
          <p:cNvSpPr>
            <a:spLocks noGrp="1"/>
          </p:cNvSpPr>
          <p:nvPr>
            <p:ph type="dt" sz="half" idx="10"/>
          </p:nvPr>
        </p:nvSpPr>
        <p:spPr/>
        <p:txBody>
          <a:bodyPr/>
          <a:lstStyle/>
          <a:p>
            <a:fld id="{346B6116-E403-4A67-A73B-07575C8BF4BC}" type="datetime1">
              <a:rPr lang="en-IN" smtClean="0"/>
              <a:t>13-11-2025</a:t>
            </a:fld>
            <a:endParaRPr lang="en-IN" dirty="0"/>
          </a:p>
        </p:txBody>
      </p:sp>
      <p:sp>
        <p:nvSpPr>
          <p:cNvPr id="8" name="Footer Placeholder 7">
            <a:extLst>
              <a:ext uri="{FF2B5EF4-FFF2-40B4-BE49-F238E27FC236}">
                <a16:creationId xmlns:a16="http://schemas.microsoft.com/office/drawing/2014/main" id="{84F3EF3C-9BA4-385E-A346-5934AEE80374}"/>
              </a:ext>
            </a:extLst>
          </p:cNvPr>
          <p:cNvSpPr>
            <a:spLocks noGrp="1"/>
          </p:cNvSpPr>
          <p:nvPr>
            <p:ph type="ftr" sz="quarter" idx="11"/>
          </p:nvPr>
        </p:nvSpPr>
        <p:spPr/>
        <p:txBody>
          <a:bodyPr/>
          <a:lstStyle/>
          <a:p>
            <a:r>
              <a:rPr lang="en-IN"/>
              <a:t>Dept. of CSE(AI &amp; ML)</a:t>
            </a:r>
            <a:endParaRPr lang="en-IN" dirty="0"/>
          </a:p>
        </p:txBody>
      </p:sp>
      <p:sp>
        <p:nvSpPr>
          <p:cNvPr id="9" name="Slide Number Placeholder 8">
            <a:extLst>
              <a:ext uri="{FF2B5EF4-FFF2-40B4-BE49-F238E27FC236}">
                <a16:creationId xmlns:a16="http://schemas.microsoft.com/office/drawing/2014/main" id="{DBFE6F66-8EEC-E401-1482-28FCD2782828}"/>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1415480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AE53C-3E58-22F9-1529-DF32E6A2C0A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450D8E-3B92-EFEB-8380-385B4B4A9A99}"/>
              </a:ext>
            </a:extLst>
          </p:cNvPr>
          <p:cNvSpPr>
            <a:spLocks noGrp="1"/>
          </p:cNvSpPr>
          <p:nvPr>
            <p:ph type="dt" sz="half" idx="10"/>
          </p:nvPr>
        </p:nvSpPr>
        <p:spPr/>
        <p:txBody>
          <a:bodyPr/>
          <a:lstStyle/>
          <a:p>
            <a:fld id="{5C9106E9-1D22-4A37-A0F6-13101E4082C3}" type="datetime1">
              <a:rPr lang="en-IN" smtClean="0"/>
              <a:t>13-11-2025</a:t>
            </a:fld>
            <a:endParaRPr lang="en-IN" dirty="0"/>
          </a:p>
        </p:txBody>
      </p:sp>
      <p:sp>
        <p:nvSpPr>
          <p:cNvPr id="4" name="Footer Placeholder 3">
            <a:extLst>
              <a:ext uri="{FF2B5EF4-FFF2-40B4-BE49-F238E27FC236}">
                <a16:creationId xmlns:a16="http://schemas.microsoft.com/office/drawing/2014/main" id="{78AD714B-1CF3-2931-C090-95D27DAFBD60}"/>
              </a:ext>
            </a:extLst>
          </p:cNvPr>
          <p:cNvSpPr>
            <a:spLocks noGrp="1"/>
          </p:cNvSpPr>
          <p:nvPr>
            <p:ph type="ftr" sz="quarter" idx="11"/>
          </p:nvPr>
        </p:nvSpPr>
        <p:spPr/>
        <p:txBody>
          <a:bodyPr/>
          <a:lstStyle/>
          <a:p>
            <a:r>
              <a:rPr lang="en-IN"/>
              <a:t>Dept. of CSE(AI &amp; ML)</a:t>
            </a:r>
            <a:endParaRPr lang="en-IN" dirty="0"/>
          </a:p>
        </p:txBody>
      </p:sp>
      <p:sp>
        <p:nvSpPr>
          <p:cNvPr id="5" name="Slide Number Placeholder 4">
            <a:extLst>
              <a:ext uri="{FF2B5EF4-FFF2-40B4-BE49-F238E27FC236}">
                <a16:creationId xmlns:a16="http://schemas.microsoft.com/office/drawing/2014/main" id="{46F886E2-BBF2-A6DE-6C5C-0CA1E7761F75}"/>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2607956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14FCC-3087-2FD7-9CD9-C3BD4D677A9A}"/>
              </a:ext>
            </a:extLst>
          </p:cNvPr>
          <p:cNvSpPr>
            <a:spLocks noGrp="1"/>
          </p:cNvSpPr>
          <p:nvPr>
            <p:ph type="dt" sz="half" idx="10"/>
          </p:nvPr>
        </p:nvSpPr>
        <p:spPr/>
        <p:txBody>
          <a:bodyPr/>
          <a:lstStyle/>
          <a:p>
            <a:fld id="{8A2C9426-A0C4-40DA-920D-06B75BE2F60B}" type="datetime1">
              <a:rPr lang="en-IN" smtClean="0"/>
              <a:t>13-11-2025</a:t>
            </a:fld>
            <a:endParaRPr lang="en-IN" dirty="0"/>
          </a:p>
        </p:txBody>
      </p:sp>
      <p:sp>
        <p:nvSpPr>
          <p:cNvPr id="3" name="Footer Placeholder 2">
            <a:extLst>
              <a:ext uri="{FF2B5EF4-FFF2-40B4-BE49-F238E27FC236}">
                <a16:creationId xmlns:a16="http://schemas.microsoft.com/office/drawing/2014/main" id="{D16C14CB-BA1E-C47F-B9AA-A22A2170AE29}"/>
              </a:ext>
            </a:extLst>
          </p:cNvPr>
          <p:cNvSpPr>
            <a:spLocks noGrp="1"/>
          </p:cNvSpPr>
          <p:nvPr>
            <p:ph type="ftr" sz="quarter" idx="11"/>
          </p:nvPr>
        </p:nvSpPr>
        <p:spPr/>
        <p:txBody>
          <a:bodyPr/>
          <a:lstStyle/>
          <a:p>
            <a:r>
              <a:rPr lang="en-IN"/>
              <a:t>Dept. of CSE(AI &amp; ML)</a:t>
            </a:r>
            <a:endParaRPr lang="en-IN" dirty="0"/>
          </a:p>
        </p:txBody>
      </p:sp>
      <p:sp>
        <p:nvSpPr>
          <p:cNvPr id="4" name="Slide Number Placeholder 3">
            <a:extLst>
              <a:ext uri="{FF2B5EF4-FFF2-40B4-BE49-F238E27FC236}">
                <a16:creationId xmlns:a16="http://schemas.microsoft.com/office/drawing/2014/main" id="{16398806-FFDC-8D96-7F9C-3DECB18D39CF}"/>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2895871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90333-9CE1-5BD0-140B-623C83E7E2E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740EFC-1C8E-80B5-3938-B893C0F67199}"/>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C2E6483-822C-D097-F7ED-E96A3A63700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1F9511-5589-4E0E-2425-EB0C3EC802CD}"/>
              </a:ext>
            </a:extLst>
          </p:cNvPr>
          <p:cNvSpPr>
            <a:spLocks noGrp="1"/>
          </p:cNvSpPr>
          <p:nvPr>
            <p:ph type="dt" sz="half" idx="10"/>
          </p:nvPr>
        </p:nvSpPr>
        <p:spPr/>
        <p:txBody>
          <a:bodyPr/>
          <a:lstStyle/>
          <a:p>
            <a:fld id="{5E727759-13A0-4434-90E5-B169AD5B22D2}" type="datetime1">
              <a:rPr lang="en-IN" smtClean="0"/>
              <a:t>13-11-2025</a:t>
            </a:fld>
            <a:endParaRPr lang="en-IN" dirty="0"/>
          </a:p>
        </p:txBody>
      </p:sp>
      <p:sp>
        <p:nvSpPr>
          <p:cNvPr id="6" name="Footer Placeholder 5">
            <a:extLst>
              <a:ext uri="{FF2B5EF4-FFF2-40B4-BE49-F238E27FC236}">
                <a16:creationId xmlns:a16="http://schemas.microsoft.com/office/drawing/2014/main" id="{68CD6233-9DC6-0E85-4615-878DDAF199E2}"/>
              </a:ext>
            </a:extLst>
          </p:cNvPr>
          <p:cNvSpPr>
            <a:spLocks noGrp="1"/>
          </p:cNvSpPr>
          <p:nvPr>
            <p:ph type="ftr" sz="quarter" idx="11"/>
          </p:nvPr>
        </p:nvSpPr>
        <p:spPr/>
        <p:txBody>
          <a:bodyPr/>
          <a:lstStyle/>
          <a:p>
            <a:r>
              <a:rPr lang="en-IN"/>
              <a:t>Dept. of CSE(AI &amp; ML)</a:t>
            </a:r>
            <a:endParaRPr lang="en-IN" dirty="0"/>
          </a:p>
        </p:txBody>
      </p:sp>
      <p:sp>
        <p:nvSpPr>
          <p:cNvPr id="7" name="Slide Number Placeholder 6">
            <a:extLst>
              <a:ext uri="{FF2B5EF4-FFF2-40B4-BE49-F238E27FC236}">
                <a16:creationId xmlns:a16="http://schemas.microsoft.com/office/drawing/2014/main" id="{727A438B-3C4D-7709-ED07-2B51E9D6EB2A}"/>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1302311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6AF90-0350-D4E5-B860-B759C45D4E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67913D-AFA5-6E8E-B2D0-979CB51973F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0F20DAD6-8ED2-47F9-B94E-0A8FFBB4CD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829E3E-21A5-9898-6AB9-B03A3AACBDE4}"/>
              </a:ext>
            </a:extLst>
          </p:cNvPr>
          <p:cNvSpPr>
            <a:spLocks noGrp="1"/>
          </p:cNvSpPr>
          <p:nvPr>
            <p:ph type="dt" sz="half" idx="10"/>
          </p:nvPr>
        </p:nvSpPr>
        <p:spPr/>
        <p:txBody>
          <a:bodyPr/>
          <a:lstStyle/>
          <a:p>
            <a:fld id="{A83BAFA8-49BA-4AC1-9051-74AA3291509B}" type="datetime1">
              <a:rPr lang="en-IN" smtClean="0"/>
              <a:t>13-11-2025</a:t>
            </a:fld>
            <a:endParaRPr lang="en-IN" dirty="0"/>
          </a:p>
        </p:txBody>
      </p:sp>
      <p:sp>
        <p:nvSpPr>
          <p:cNvPr id="6" name="Footer Placeholder 5">
            <a:extLst>
              <a:ext uri="{FF2B5EF4-FFF2-40B4-BE49-F238E27FC236}">
                <a16:creationId xmlns:a16="http://schemas.microsoft.com/office/drawing/2014/main" id="{9A6B6D81-AF9A-B24C-B4C6-486B6E1A24C8}"/>
              </a:ext>
            </a:extLst>
          </p:cNvPr>
          <p:cNvSpPr>
            <a:spLocks noGrp="1"/>
          </p:cNvSpPr>
          <p:nvPr>
            <p:ph type="ftr" sz="quarter" idx="11"/>
          </p:nvPr>
        </p:nvSpPr>
        <p:spPr/>
        <p:txBody>
          <a:bodyPr/>
          <a:lstStyle/>
          <a:p>
            <a:r>
              <a:rPr lang="en-IN"/>
              <a:t>Dept. of CSE(AI &amp; ML)</a:t>
            </a:r>
            <a:endParaRPr lang="en-IN" dirty="0"/>
          </a:p>
        </p:txBody>
      </p:sp>
      <p:sp>
        <p:nvSpPr>
          <p:cNvPr id="7" name="Slide Number Placeholder 6">
            <a:extLst>
              <a:ext uri="{FF2B5EF4-FFF2-40B4-BE49-F238E27FC236}">
                <a16:creationId xmlns:a16="http://schemas.microsoft.com/office/drawing/2014/main" id="{FFBC239E-6AA5-A9AF-7F32-0C20004F0320}"/>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1364041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AADBC-CC04-2C88-D3CA-BFA28F4059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4C8CD2-A648-98CA-0956-37F7D05BAAD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D27E59-4273-FB36-C5BA-32BDFFA475FB}"/>
              </a:ext>
            </a:extLst>
          </p:cNvPr>
          <p:cNvSpPr>
            <a:spLocks noGrp="1"/>
          </p:cNvSpPr>
          <p:nvPr>
            <p:ph type="dt" sz="half" idx="10"/>
          </p:nvPr>
        </p:nvSpPr>
        <p:spPr/>
        <p:txBody>
          <a:bodyPr/>
          <a:lstStyle/>
          <a:p>
            <a:fld id="{A52649F8-E61A-4725-A359-F239E007A1F4}" type="datetime1">
              <a:rPr lang="en-IN" smtClean="0"/>
              <a:t>13-11-2025</a:t>
            </a:fld>
            <a:endParaRPr lang="en-IN" dirty="0"/>
          </a:p>
        </p:txBody>
      </p:sp>
      <p:sp>
        <p:nvSpPr>
          <p:cNvPr id="5" name="Footer Placeholder 4">
            <a:extLst>
              <a:ext uri="{FF2B5EF4-FFF2-40B4-BE49-F238E27FC236}">
                <a16:creationId xmlns:a16="http://schemas.microsoft.com/office/drawing/2014/main" id="{242D0F79-2814-99C7-A626-ACAFC256E0AB}"/>
              </a:ext>
            </a:extLst>
          </p:cNvPr>
          <p:cNvSpPr>
            <a:spLocks noGrp="1"/>
          </p:cNvSpPr>
          <p:nvPr>
            <p:ph type="ftr" sz="quarter" idx="11"/>
          </p:nvPr>
        </p:nvSpPr>
        <p:spPr/>
        <p:txBody>
          <a:bodyPr/>
          <a:lstStyle/>
          <a:p>
            <a:r>
              <a:rPr lang="en-IN"/>
              <a:t>Dept. of CSE(AI &amp; ML)</a:t>
            </a:r>
            <a:endParaRPr lang="en-IN" dirty="0"/>
          </a:p>
        </p:txBody>
      </p:sp>
      <p:sp>
        <p:nvSpPr>
          <p:cNvPr id="6" name="Slide Number Placeholder 5">
            <a:extLst>
              <a:ext uri="{FF2B5EF4-FFF2-40B4-BE49-F238E27FC236}">
                <a16:creationId xmlns:a16="http://schemas.microsoft.com/office/drawing/2014/main" id="{3CA1F949-D083-C939-CFB2-59BFADC8A761}"/>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3871553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B07332-ABFE-ED26-6E48-85511E9E4D69}"/>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123742-5EF4-E6F4-74BA-E837F829E322}"/>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DF4BEC-2BD4-AA30-3F70-B4621AAE4A51}"/>
              </a:ext>
            </a:extLst>
          </p:cNvPr>
          <p:cNvSpPr>
            <a:spLocks noGrp="1"/>
          </p:cNvSpPr>
          <p:nvPr>
            <p:ph type="dt" sz="half" idx="10"/>
          </p:nvPr>
        </p:nvSpPr>
        <p:spPr/>
        <p:txBody>
          <a:bodyPr/>
          <a:lstStyle/>
          <a:p>
            <a:fld id="{218AE6DF-EB2F-4C5B-B8E2-EAA383C560D8}" type="datetime1">
              <a:rPr lang="en-IN" smtClean="0"/>
              <a:t>13-11-2025</a:t>
            </a:fld>
            <a:endParaRPr lang="en-IN" dirty="0"/>
          </a:p>
        </p:txBody>
      </p:sp>
      <p:sp>
        <p:nvSpPr>
          <p:cNvPr id="5" name="Footer Placeholder 4">
            <a:extLst>
              <a:ext uri="{FF2B5EF4-FFF2-40B4-BE49-F238E27FC236}">
                <a16:creationId xmlns:a16="http://schemas.microsoft.com/office/drawing/2014/main" id="{2552B3AC-323F-FAF2-5400-A602DC3FAB23}"/>
              </a:ext>
            </a:extLst>
          </p:cNvPr>
          <p:cNvSpPr>
            <a:spLocks noGrp="1"/>
          </p:cNvSpPr>
          <p:nvPr>
            <p:ph type="ftr" sz="quarter" idx="11"/>
          </p:nvPr>
        </p:nvSpPr>
        <p:spPr/>
        <p:txBody>
          <a:bodyPr/>
          <a:lstStyle/>
          <a:p>
            <a:r>
              <a:rPr lang="en-IN"/>
              <a:t>Dept. of CSE(AI &amp; ML)</a:t>
            </a:r>
            <a:endParaRPr lang="en-IN" dirty="0"/>
          </a:p>
        </p:txBody>
      </p:sp>
      <p:sp>
        <p:nvSpPr>
          <p:cNvPr id="6" name="Slide Number Placeholder 5">
            <a:extLst>
              <a:ext uri="{FF2B5EF4-FFF2-40B4-BE49-F238E27FC236}">
                <a16:creationId xmlns:a16="http://schemas.microsoft.com/office/drawing/2014/main" id="{71E00309-6CC5-A53F-28C4-2ADA04A35F06}"/>
              </a:ext>
            </a:extLst>
          </p:cNvPr>
          <p:cNvSpPr>
            <a:spLocks noGrp="1"/>
          </p:cNvSpPr>
          <p:nvPr>
            <p:ph type="sldNum" sz="quarter" idx="12"/>
          </p:nvPr>
        </p:nvSpPr>
        <p:spPr/>
        <p:txBody>
          <a:bodyPr/>
          <a:lstStyle/>
          <a:p>
            <a:fld id="{FE253CD5-3756-4B7F-AB8B-4701AC774AF0}" type="slidenum">
              <a:rPr lang="en-IN" smtClean="0"/>
              <a:t>‹#›</a:t>
            </a:fld>
            <a:endParaRPr lang="en-IN" dirty="0"/>
          </a:p>
        </p:txBody>
      </p:sp>
    </p:spTree>
    <p:extLst>
      <p:ext uri="{BB962C8B-B14F-4D97-AF65-F5344CB8AC3E}">
        <p14:creationId xmlns:p14="http://schemas.microsoft.com/office/powerpoint/2010/main" val="1312731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34F077B-87B8-FA52-7074-51FA6CFA0A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9F32CD37-BD26-4796-BC72-4AD8639FA65D}" type="datetime1">
              <a:rPr lang="en-IN" smtClean="0"/>
              <a:t>13-11-2025</a:t>
            </a:fld>
            <a:endParaRPr lang="en-IN" dirty="0"/>
          </a:p>
        </p:txBody>
      </p:sp>
      <p:sp>
        <p:nvSpPr>
          <p:cNvPr id="5" name="Footer Placeholder 4">
            <a:extLst>
              <a:ext uri="{FF2B5EF4-FFF2-40B4-BE49-F238E27FC236}">
                <a16:creationId xmlns:a16="http://schemas.microsoft.com/office/drawing/2014/main" id="{93338C15-5C24-9709-20F6-CDF17C19FE98}"/>
              </a:ext>
            </a:extLst>
          </p:cNvPr>
          <p:cNvSpPr>
            <a:spLocks noGrp="1"/>
          </p:cNvSpPr>
          <p:nvPr>
            <p:ph type="ftr" sz="quarter" idx="3"/>
          </p:nvPr>
        </p:nvSpPr>
        <p:spPr>
          <a:xfrm>
            <a:off x="4999892" y="6328716"/>
            <a:ext cx="19050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r>
              <a:rPr lang="en-GB" dirty="0"/>
              <a:t>Dept. of CSE(AI &amp; ML)</a:t>
            </a:r>
            <a:endParaRPr lang="en-IN" dirty="0"/>
          </a:p>
        </p:txBody>
      </p:sp>
      <p:sp>
        <p:nvSpPr>
          <p:cNvPr id="6" name="Slide Number Placeholder 5">
            <a:extLst>
              <a:ext uri="{FF2B5EF4-FFF2-40B4-BE49-F238E27FC236}">
                <a16:creationId xmlns:a16="http://schemas.microsoft.com/office/drawing/2014/main" id="{C0BB3B5A-DFA9-A2E6-DC7E-029E90C4F6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FE253CD5-3756-4B7F-AB8B-4701AC774AF0}" type="slidenum">
              <a:rPr lang="en-IN" smtClean="0"/>
              <a:pPr/>
              <a:t>‹#›</a:t>
            </a:fld>
            <a:endParaRPr lang="en-IN" dirty="0"/>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602848" y="174100"/>
            <a:ext cx="1209843" cy="828790"/>
          </a:xfrm>
          <a:prstGeom prst="rect">
            <a:avLst/>
          </a:prstGeom>
        </p:spPr>
      </p:pic>
      <p:sp>
        <p:nvSpPr>
          <p:cNvPr id="8" name="Footer Placeholder 4">
            <a:extLst>
              <a:ext uri="{FF2B5EF4-FFF2-40B4-BE49-F238E27FC236}">
                <a16:creationId xmlns:a16="http://schemas.microsoft.com/office/drawing/2014/main" id="{93338C15-5C24-9709-20F6-CDF17C19FE98}"/>
              </a:ext>
            </a:extLst>
          </p:cNvPr>
          <p:cNvSpPr txBox="1">
            <a:spLocks/>
          </p:cNvSpPr>
          <p:nvPr userDrawn="1"/>
        </p:nvSpPr>
        <p:spPr>
          <a:xfrm>
            <a:off x="111369" y="174100"/>
            <a:ext cx="308903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Times New Roman" panose="020206030504050203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err="1"/>
              <a:t>Keshav</a:t>
            </a:r>
            <a:r>
              <a:rPr lang="en-GB" dirty="0"/>
              <a:t> Memorial Engineering College</a:t>
            </a:r>
            <a:endParaRPr lang="en-IN" dirty="0"/>
          </a:p>
        </p:txBody>
      </p:sp>
    </p:spTree>
    <p:extLst>
      <p:ext uri="{BB962C8B-B14F-4D97-AF65-F5344CB8AC3E}">
        <p14:creationId xmlns:p14="http://schemas.microsoft.com/office/powerpoint/2010/main" val="1156343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3CCB9A0-EF63-A1A9-A631-C7F0740E2901}"/>
              </a:ext>
            </a:extLst>
          </p:cNvPr>
          <p:cNvSpPr txBox="1"/>
          <p:nvPr/>
        </p:nvSpPr>
        <p:spPr>
          <a:xfrm>
            <a:off x="1027634" y="4211385"/>
            <a:ext cx="3535771" cy="461665"/>
          </a:xfrm>
          <a:prstGeom prst="rect">
            <a:avLst/>
          </a:prstGeom>
          <a:noFill/>
        </p:spPr>
        <p:txBody>
          <a:bodyPr wrap="square" rtlCol="0">
            <a:spAutoFit/>
          </a:bodyPr>
          <a:lstStyle/>
          <a:p>
            <a:pPr algn="just"/>
            <a:r>
              <a:rPr lang="en-US" sz="2400" b="1" dirty="0">
                <a:latin typeface="Times New Roman" panose="02020603050405020304" pitchFamily="18" charset="0"/>
                <a:ea typeface="Roboto" panose="02000000000000000000" pitchFamily="2" charset="0"/>
                <a:cs typeface="Times New Roman" panose="02020603050405020304" pitchFamily="18" charset="0"/>
              </a:rPr>
              <a:t>Batch ID: </a:t>
            </a:r>
            <a:r>
              <a:rPr lang="en-US" sz="2400" dirty="0">
                <a:latin typeface="Times New Roman" panose="02020603050405020304" pitchFamily="18" charset="0"/>
                <a:ea typeface="Roboto" panose="02000000000000000000" pitchFamily="2" charset="0"/>
                <a:cs typeface="Times New Roman" panose="02020603050405020304" pitchFamily="18" charset="0"/>
              </a:rPr>
              <a:t>CSM2025B01</a:t>
            </a:r>
            <a:endParaRPr lang="en-IN" sz="2400" dirty="0">
              <a:latin typeface="Times New Roman" panose="02020603050405020304" pitchFamily="18" charset="0"/>
              <a:ea typeface="Roboto" panose="02000000000000000000" pitchFamily="2" charset="0"/>
              <a:cs typeface="Times New Roman" panose="02020603050405020304" pitchFamily="18" charset="0"/>
            </a:endParaRPr>
          </a:p>
        </p:txBody>
      </p:sp>
      <p:sp>
        <p:nvSpPr>
          <p:cNvPr id="7" name="TextBox 6">
            <a:extLst>
              <a:ext uri="{FF2B5EF4-FFF2-40B4-BE49-F238E27FC236}">
                <a16:creationId xmlns:a16="http://schemas.microsoft.com/office/drawing/2014/main" id="{3BA05DA5-CB08-ED37-4A78-427C1398C6D3}"/>
              </a:ext>
            </a:extLst>
          </p:cNvPr>
          <p:cNvSpPr txBox="1"/>
          <p:nvPr/>
        </p:nvSpPr>
        <p:spPr>
          <a:xfrm>
            <a:off x="1226520" y="5095042"/>
            <a:ext cx="3812011" cy="923330"/>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Times New Roman" panose="02020603050405020304" pitchFamily="18" charset="0"/>
                <a:ea typeface="Roboto Light" panose="02000000000000000000" pitchFamily="2" charset="0"/>
                <a:cs typeface="Times New Roman" panose="02020603050405020304" pitchFamily="18" charset="0"/>
              </a:rPr>
              <a:t>Ashika siddhi (245522748068)</a:t>
            </a:r>
          </a:p>
          <a:p>
            <a:pPr marL="285750" indent="-285750" algn="just">
              <a:buFont typeface="Arial" panose="020B0604020202020204" pitchFamily="34" charset="0"/>
              <a:buChar char="•"/>
            </a:pPr>
            <a:r>
              <a:rPr lang="en-GB" dirty="0">
                <a:latin typeface="Times New Roman" panose="02020603050405020304" pitchFamily="18" charset="0"/>
                <a:ea typeface="Roboto Light" panose="02000000000000000000" pitchFamily="2" charset="0"/>
                <a:cs typeface="Times New Roman" panose="02020603050405020304" pitchFamily="18" charset="0"/>
              </a:rPr>
              <a:t>V. Sai Charishma (2455227480126)</a:t>
            </a:r>
          </a:p>
          <a:p>
            <a:pPr marL="285750" indent="-285750" algn="just">
              <a:buFont typeface="Arial" panose="020B0604020202020204" pitchFamily="34" charset="0"/>
              <a:buChar char="•"/>
            </a:pPr>
            <a:r>
              <a:rPr lang="en-GB" dirty="0">
                <a:latin typeface="Times New Roman" panose="02020603050405020304" pitchFamily="18" charset="0"/>
                <a:ea typeface="Roboto Light" panose="02000000000000000000" pitchFamily="2" charset="0"/>
                <a:cs typeface="Times New Roman" panose="02020603050405020304" pitchFamily="18" charset="0"/>
              </a:rPr>
              <a:t>K. Siri Chandana (245522748091)</a:t>
            </a:r>
            <a:endParaRPr lang="en-IN" dirty="0">
              <a:latin typeface="Times New Roman" panose="02020603050405020304" pitchFamily="18" charset="0"/>
              <a:ea typeface="Roboto Light" panose="02000000000000000000" pitchFamily="2" charset="0"/>
              <a:cs typeface="Times New Roman" panose="02020603050405020304" pitchFamily="18" charset="0"/>
            </a:endParaRPr>
          </a:p>
        </p:txBody>
      </p:sp>
      <p:sp>
        <p:nvSpPr>
          <p:cNvPr id="8" name="TextBox 7">
            <a:extLst>
              <a:ext uri="{FF2B5EF4-FFF2-40B4-BE49-F238E27FC236}">
                <a16:creationId xmlns:a16="http://schemas.microsoft.com/office/drawing/2014/main" id="{2A911184-EF41-E860-6EC7-79525B304B0D}"/>
              </a:ext>
            </a:extLst>
          </p:cNvPr>
          <p:cNvSpPr txBox="1"/>
          <p:nvPr/>
        </p:nvSpPr>
        <p:spPr>
          <a:xfrm>
            <a:off x="1511269" y="707028"/>
            <a:ext cx="9038821" cy="1055930"/>
          </a:xfrm>
          <a:prstGeom prst="rect">
            <a:avLst/>
          </a:prstGeom>
          <a:noFill/>
        </p:spPr>
        <p:txBody>
          <a:bodyPr wrap="none" rtlCol="0">
            <a:spAutoFit/>
          </a:bodyPr>
          <a:lstStyle/>
          <a:p>
            <a:pPr algn="ctr">
              <a:lnSpc>
                <a:spcPct val="107000"/>
              </a:lnSpc>
              <a:spcAft>
                <a:spcPts val="800"/>
              </a:spcAft>
              <a:buNone/>
            </a:pPr>
            <a:r>
              <a:rPr lang="en-IN" sz="3000" b="1" kern="100" dirty="0">
                <a:effectLst/>
                <a:latin typeface="Times New Roman" panose="02020603050405020304" pitchFamily="18" charset="0"/>
                <a:ea typeface="Calibri" panose="020F0502020204030204" pitchFamily="34" charset="0"/>
                <a:cs typeface="Times New Roman" panose="02020603050405020304" pitchFamily="18" charset="0"/>
              </a:rPr>
              <a:t>MULTIMODAL DEEP LEARNING FRAMEWORK </a:t>
            </a:r>
            <a:br>
              <a:rPr lang="en-IN" sz="3000" b="1"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3000" b="1" kern="100" dirty="0">
                <a:effectLst/>
                <a:latin typeface="Times New Roman" panose="02020603050405020304" pitchFamily="18" charset="0"/>
                <a:ea typeface="Calibri" panose="020F0502020204030204" pitchFamily="34" charset="0"/>
                <a:cs typeface="Times New Roman" panose="02020603050405020304" pitchFamily="18" charset="0"/>
              </a:rPr>
              <a:t>FOR MEDICAL DIAGNOSIS</a:t>
            </a:r>
            <a:endParaRPr lang="en-IN"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53CCB9A0-EF63-A1A9-A631-C7F0740E2901}"/>
              </a:ext>
            </a:extLst>
          </p:cNvPr>
          <p:cNvSpPr txBox="1"/>
          <p:nvPr/>
        </p:nvSpPr>
        <p:spPr>
          <a:xfrm>
            <a:off x="8044767" y="4572397"/>
            <a:ext cx="1090363" cy="461665"/>
          </a:xfrm>
          <a:prstGeom prst="rect">
            <a:avLst/>
          </a:prstGeom>
          <a:noFill/>
        </p:spPr>
        <p:txBody>
          <a:bodyPr wrap="none" rtlCol="0">
            <a:spAutoFit/>
          </a:bodyPr>
          <a:lstStyle/>
          <a:p>
            <a:pPr algn="just"/>
            <a:r>
              <a:rPr lang="en-US" sz="2400" b="1" dirty="0">
                <a:latin typeface="Times New Roman" panose="02020603050405020304" pitchFamily="18" charset="0"/>
                <a:ea typeface="Roboto" panose="02000000000000000000" pitchFamily="2" charset="0"/>
                <a:cs typeface="Times New Roman" panose="02020603050405020304" pitchFamily="18" charset="0"/>
              </a:rPr>
              <a:t>Guide:</a:t>
            </a:r>
            <a:endParaRPr lang="en-IN" sz="2400" b="1" dirty="0">
              <a:latin typeface="Times New Roman" panose="02020603050405020304" pitchFamily="18" charset="0"/>
              <a:ea typeface="Roboto" panose="02000000000000000000" pitchFamily="2" charset="0"/>
              <a:cs typeface="Times New Roman" panose="02020603050405020304" pitchFamily="18" charset="0"/>
            </a:endParaRPr>
          </a:p>
        </p:txBody>
      </p:sp>
      <p:sp>
        <p:nvSpPr>
          <p:cNvPr id="11" name="TextBox 10">
            <a:extLst>
              <a:ext uri="{FF2B5EF4-FFF2-40B4-BE49-F238E27FC236}">
                <a16:creationId xmlns:a16="http://schemas.microsoft.com/office/drawing/2014/main" id="{53CCB9A0-EF63-A1A9-A631-C7F0740E2901}"/>
              </a:ext>
            </a:extLst>
          </p:cNvPr>
          <p:cNvSpPr txBox="1"/>
          <p:nvPr/>
        </p:nvSpPr>
        <p:spPr>
          <a:xfrm>
            <a:off x="1027634" y="4633377"/>
            <a:ext cx="2334870" cy="461665"/>
          </a:xfrm>
          <a:prstGeom prst="rect">
            <a:avLst/>
          </a:prstGeom>
          <a:noFill/>
        </p:spPr>
        <p:txBody>
          <a:bodyPr wrap="none" rtlCol="0">
            <a:spAutoFit/>
          </a:bodyPr>
          <a:lstStyle/>
          <a:p>
            <a:pPr algn="just"/>
            <a:r>
              <a:rPr lang="en-US" sz="2400" b="1" dirty="0">
                <a:latin typeface="Times New Roman" panose="02020603050405020304" pitchFamily="18" charset="0"/>
                <a:ea typeface="Roboto" panose="02000000000000000000" pitchFamily="2" charset="0"/>
                <a:cs typeface="Times New Roman" panose="02020603050405020304" pitchFamily="18" charset="0"/>
              </a:rPr>
              <a:t>Team Members:</a:t>
            </a:r>
            <a:endParaRPr lang="en-IN" sz="2400" b="1" dirty="0">
              <a:latin typeface="Times New Roman" panose="02020603050405020304" pitchFamily="18" charset="0"/>
              <a:ea typeface="Roboto" panose="02000000000000000000" pitchFamily="2" charset="0"/>
              <a:cs typeface="Times New Roman" panose="02020603050405020304" pitchFamily="18" charset="0"/>
            </a:endParaRPr>
          </a:p>
        </p:txBody>
      </p:sp>
      <p:sp>
        <p:nvSpPr>
          <p:cNvPr id="12" name="TextBox 11">
            <a:extLst>
              <a:ext uri="{FF2B5EF4-FFF2-40B4-BE49-F238E27FC236}">
                <a16:creationId xmlns:a16="http://schemas.microsoft.com/office/drawing/2014/main" id="{3BA05DA5-CB08-ED37-4A78-427C1398C6D3}"/>
              </a:ext>
            </a:extLst>
          </p:cNvPr>
          <p:cNvSpPr txBox="1"/>
          <p:nvPr/>
        </p:nvSpPr>
        <p:spPr>
          <a:xfrm>
            <a:off x="8449272" y="5034062"/>
            <a:ext cx="3522921" cy="923330"/>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Times New Roman" panose="02020603050405020304" pitchFamily="18" charset="0"/>
                <a:ea typeface="Roboto Light" panose="02000000000000000000" pitchFamily="2" charset="0"/>
                <a:cs typeface="Times New Roman" panose="02020603050405020304" pitchFamily="18" charset="0"/>
              </a:rPr>
              <a:t>&lt;Name of the Guide&gt;</a:t>
            </a:r>
          </a:p>
          <a:p>
            <a:pPr marL="285750" indent="-285750" algn="just">
              <a:buFont typeface="Arial" panose="020B0604020202020204" pitchFamily="34" charset="0"/>
              <a:buChar char="•"/>
            </a:pPr>
            <a:r>
              <a:rPr lang="en-GB" dirty="0">
                <a:latin typeface="Times New Roman" panose="02020603050405020304" pitchFamily="18" charset="0"/>
                <a:ea typeface="Roboto Light" panose="02000000000000000000" pitchFamily="2" charset="0"/>
                <a:cs typeface="Times New Roman" panose="02020603050405020304" pitchFamily="18" charset="0"/>
              </a:rPr>
              <a:t>&lt;Qualification&gt;</a:t>
            </a:r>
          </a:p>
          <a:p>
            <a:pPr marL="285750" indent="-285750" algn="just">
              <a:buFont typeface="Arial" panose="020B0604020202020204" pitchFamily="34" charset="0"/>
              <a:buChar char="•"/>
            </a:pPr>
            <a:r>
              <a:rPr lang="en-GB" dirty="0">
                <a:latin typeface="Times New Roman" panose="02020603050405020304" pitchFamily="18" charset="0"/>
                <a:ea typeface="Roboto Light" panose="02000000000000000000" pitchFamily="2" charset="0"/>
                <a:cs typeface="Times New Roman" panose="02020603050405020304" pitchFamily="18" charset="0"/>
              </a:rPr>
              <a:t>&lt;Designation&gt; &amp; &lt;Dept.&gt;</a:t>
            </a:r>
            <a:endParaRPr lang="en-IN" dirty="0">
              <a:latin typeface="Times New Roman" panose="02020603050405020304" pitchFamily="18" charset="0"/>
              <a:ea typeface="Roboto Light" panose="02000000000000000000" pitchFamily="2" charset="0"/>
              <a:cs typeface="Times New Roman" panose="02020603050405020304" pitchFamily="18" charset="0"/>
            </a:endParaRPr>
          </a:p>
        </p:txBody>
      </p:sp>
      <p:sp>
        <p:nvSpPr>
          <p:cNvPr id="13" name="TextBox 12">
            <a:extLst>
              <a:ext uri="{FF2B5EF4-FFF2-40B4-BE49-F238E27FC236}">
                <a16:creationId xmlns:a16="http://schemas.microsoft.com/office/drawing/2014/main" id="{53CCB9A0-EF63-A1A9-A631-C7F0740E2901}"/>
              </a:ext>
            </a:extLst>
          </p:cNvPr>
          <p:cNvSpPr txBox="1"/>
          <p:nvPr/>
        </p:nvSpPr>
        <p:spPr>
          <a:xfrm>
            <a:off x="1027634" y="5967899"/>
            <a:ext cx="3368230" cy="400110"/>
          </a:xfrm>
          <a:prstGeom prst="rect">
            <a:avLst/>
          </a:prstGeom>
          <a:noFill/>
        </p:spPr>
        <p:txBody>
          <a:bodyPr wrap="none" rtlCol="0">
            <a:spAutoFit/>
          </a:bodyPr>
          <a:lstStyle/>
          <a:p>
            <a:pPr algn="just"/>
            <a:r>
              <a:rPr lang="en-US" sz="2000" b="1" dirty="0">
                <a:latin typeface="Times New Roman" panose="02020603050405020304" pitchFamily="18" charset="0"/>
                <a:ea typeface="Roboto" panose="02000000000000000000" pitchFamily="2" charset="0"/>
                <a:cs typeface="Times New Roman" panose="02020603050405020304" pitchFamily="18" charset="0"/>
              </a:rPr>
              <a:t>Department: CSE (AI&amp;ML) </a:t>
            </a:r>
            <a:endParaRPr lang="en-IN" sz="2000" b="1" dirty="0">
              <a:latin typeface="Times New Roman" panose="02020603050405020304" pitchFamily="18" charset="0"/>
              <a:ea typeface="Roboto" panose="02000000000000000000" pitchFamily="2" charset="0"/>
              <a:cs typeface="Times New Roman" panose="02020603050405020304" pitchFamily="18" charset="0"/>
            </a:endParaRPr>
          </a:p>
        </p:txBody>
      </p:sp>
      <p:pic>
        <p:nvPicPr>
          <p:cNvPr id="1026" name="Picture 2" descr="D:\0.Department\0. HoD Administration\Formats\KMEC Logo 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1692" y="1935861"/>
            <a:ext cx="1948613" cy="13348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A911184-EF41-E860-6EC7-79525B304B0D}"/>
              </a:ext>
            </a:extLst>
          </p:cNvPr>
          <p:cNvSpPr txBox="1"/>
          <p:nvPr/>
        </p:nvSpPr>
        <p:spPr>
          <a:xfrm>
            <a:off x="4632715" y="3298855"/>
            <a:ext cx="2617127" cy="523220"/>
          </a:xfrm>
          <a:prstGeom prst="rect">
            <a:avLst/>
          </a:prstGeom>
          <a:noFill/>
        </p:spPr>
        <p:txBody>
          <a:bodyPr wrap="none" rtlCol="0">
            <a:spAutoFit/>
          </a:bodyPr>
          <a:lstStyle/>
          <a:p>
            <a:pPr algn="just"/>
            <a:r>
              <a:rPr lang="en-US" sz="2800" b="1" dirty="0">
                <a:latin typeface="Times New Roman" panose="02020603050405020304" pitchFamily="18" charset="0"/>
                <a:ea typeface="Roboto" panose="02000000000000000000" pitchFamily="2" charset="0"/>
                <a:cs typeface="Times New Roman" panose="02020603050405020304" pitchFamily="18" charset="0"/>
              </a:rPr>
              <a:t>A.Y:2025 - 2026</a:t>
            </a:r>
            <a:endParaRPr lang="en-IN" sz="2800" b="1" dirty="0">
              <a:latin typeface="Times New Roman" panose="02020603050405020304" pitchFamily="18"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427221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86C2FE-9AC6-DB0A-64EE-6962666B9391}"/>
              </a:ext>
            </a:extLst>
          </p:cNvPr>
          <p:cNvSpPr>
            <a:spLocks noGrp="1"/>
          </p:cNvSpPr>
          <p:nvPr>
            <p:ph type="title"/>
          </p:nvPr>
        </p:nvSpPr>
        <p:spPr>
          <a:xfrm>
            <a:off x="1571756" y="722118"/>
            <a:ext cx="8761272" cy="658813"/>
          </a:xfrm>
          <a:solidFill>
            <a:schemeClr val="accent1">
              <a:lumMod val="20000"/>
              <a:lumOff val="80000"/>
            </a:schemeClr>
          </a:solidFill>
        </p:spPr>
        <p:txBody>
          <a:bodyPr/>
          <a:lstStyle/>
          <a:p>
            <a:pPr algn="ctr"/>
            <a:r>
              <a:rPr lang="en-GB" dirty="0"/>
              <a:t>Abstract</a:t>
            </a:r>
            <a:endParaRPr lang="en-IN" dirty="0"/>
          </a:p>
        </p:txBody>
      </p:sp>
      <p:sp>
        <p:nvSpPr>
          <p:cNvPr id="2" name="Date Placeholder 1"/>
          <p:cNvSpPr>
            <a:spLocks noGrp="1"/>
          </p:cNvSpPr>
          <p:nvPr>
            <p:ph type="dt" sz="half" idx="10"/>
          </p:nvPr>
        </p:nvSpPr>
        <p:spPr/>
        <p:txBody>
          <a:bodyPr/>
          <a:lstStyle/>
          <a:p>
            <a:fld id="{AA3D5E5A-5466-4156-81B1-32D008224795}" type="datetime1">
              <a:rPr lang="en-IN" smtClean="0"/>
              <a:t>13-11-2025</a:t>
            </a:fld>
            <a:endParaRPr lang="en-IN" dirty="0"/>
          </a:p>
        </p:txBody>
      </p:sp>
      <p:sp>
        <p:nvSpPr>
          <p:cNvPr id="3" name="Slide Number Placeholder 2"/>
          <p:cNvSpPr>
            <a:spLocks noGrp="1"/>
          </p:cNvSpPr>
          <p:nvPr>
            <p:ph type="sldNum" sz="quarter" idx="12"/>
          </p:nvPr>
        </p:nvSpPr>
        <p:spPr/>
        <p:txBody>
          <a:bodyPr/>
          <a:lstStyle/>
          <a:p>
            <a:fld id="{FE253CD5-3756-4B7F-AB8B-4701AC774AF0}" type="slidenum">
              <a:rPr lang="en-IN" smtClean="0"/>
              <a:t>2</a:t>
            </a:fld>
            <a:endParaRPr lang="en-IN" dirty="0"/>
          </a:p>
        </p:txBody>
      </p:sp>
      <p:sp>
        <p:nvSpPr>
          <p:cNvPr id="5" name="Footer Placeholder 4"/>
          <p:cNvSpPr>
            <a:spLocks noGrp="1"/>
          </p:cNvSpPr>
          <p:nvPr>
            <p:ph type="ftr" sz="quarter" idx="11"/>
          </p:nvPr>
        </p:nvSpPr>
        <p:spPr/>
        <p:txBody>
          <a:bodyPr/>
          <a:lstStyle/>
          <a:p>
            <a:r>
              <a:rPr lang="en-IN"/>
              <a:t>Dept. of CSE(AI &amp; ML)</a:t>
            </a:r>
            <a:endParaRPr lang="en-IN" dirty="0"/>
          </a:p>
        </p:txBody>
      </p:sp>
      <p:sp>
        <p:nvSpPr>
          <p:cNvPr id="6" name="TextBox 5">
            <a:extLst>
              <a:ext uri="{FF2B5EF4-FFF2-40B4-BE49-F238E27FC236}">
                <a16:creationId xmlns:a16="http://schemas.microsoft.com/office/drawing/2014/main" id="{5087B111-E6A1-215C-E8FE-5432BA2F57C9}"/>
              </a:ext>
            </a:extLst>
          </p:cNvPr>
          <p:cNvSpPr txBox="1"/>
          <p:nvPr/>
        </p:nvSpPr>
        <p:spPr>
          <a:xfrm>
            <a:off x="401217" y="1380931"/>
            <a:ext cx="10795519" cy="470898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Lung diseases such as pneumonia, tuberculosis, and COVID-19 remain major global health threats. They may lead to severe illness if diagnosed late. Accurate and timely diagnosis is essential. The conventional approaches that rely on chest X-ray interpretation or manual analysis of clinical reports are time-consuming and prone to human error. The main issue occurs in regions with limited access to experienced radiologists or less resources like machinery. Existing AI-based studies primarily focus on single-modal inputs which have imaging or only textual data, but they are unable to replace or help efficiently with the human diagnosis as they don’t take all the factors into consideration.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To address these limitations, this work proposes a multimodal system that simultaneously analyzes chest X-ray images and associated clinical reports for lung disease detection. By combining visual and textual information, the system offers a more complete understanding of a patient’s condition. The proposed procedure leads to a higher diagnostic accuracy. It is designed with a user-friendly interface that provides simplified summaries for patients and detailed analytical outputs for doctors to help them make an informed decision. Overall, this approach demonstrates the potential of integrating artificial intelligence and multimodal data fusion to enable faster diagnosis. Hence improving clinical decision-making, and more efficient healthcare delivery.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7108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2AC585-1645-46F5-ACA9-835D8AC4E55F}" type="datetime1">
              <a:rPr lang="en-IN" smtClean="0"/>
              <a:t>13-11-2025</a:t>
            </a:fld>
            <a:endParaRPr lang="en-IN" dirty="0"/>
          </a:p>
        </p:txBody>
      </p:sp>
      <p:sp>
        <p:nvSpPr>
          <p:cNvPr id="5" name="Footer Placeholder 4"/>
          <p:cNvSpPr>
            <a:spLocks noGrp="1"/>
          </p:cNvSpPr>
          <p:nvPr>
            <p:ph type="ftr" sz="quarter" idx="11"/>
          </p:nvPr>
        </p:nvSpPr>
        <p:spPr/>
        <p:txBody>
          <a:bodyPr/>
          <a:lstStyle/>
          <a:p>
            <a:r>
              <a:rPr lang="en-IN"/>
              <a:t>Dept. of CSE(AI &amp; ML)</a:t>
            </a:r>
            <a:endParaRPr lang="en-IN" dirty="0"/>
          </a:p>
        </p:txBody>
      </p:sp>
      <p:sp>
        <p:nvSpPr>
          <p:cNvPr id="6" name="Slide Number Placeholder 5"/>
          <p:cNvSpPr>
            <a:spLocks noGrp="1"/>
          </p:cNvSpPr>
          <p:nvPr>
            <p:ph type="sldNum" sz="quarter" idx="12"/>
          </p:nvPr>
        </p:nvSpPr>
        <p:spPr/>
        <p:txBody>
          <a:bodyPr/>
          <a:lstStyle/>
          <a:p>
            <a:fld id="{FE253CD5-3756-4B7F-AB8B-4701AC774AF0}" type="slidenum">
              <a:rPr lang="en-IN" smtClean="0"/>
              <a:t>3</a:t>
            </a:fld>
            <a:endParaRPr lang="en-IN" dirty="0"/>
          </a:p>
        </p:txBody>
      </p:sp>
      <p:sp>
        <p:nvSpPr>
          <p:cNvPr id="7" name="Title 1">
            <a:extLst>
              <a:ext uri="{FF2B5EF4-FFF2-40B4-BE49-F238E27FC236}">
                <a16:creationId xmlns:a16="http://schemas.microsoft.com/office/drawing/2014/main" id="{2386C2FE-9AC6-DB0A-64EE-6962666B9391}"/>
              </a:ext>
            </a:extLst>
          </p:cNvPr>
          <p:cNvSpPr>
            <a:spLocks noGrp="1"/>
          </p:cNvSpPr>
          <p:nvPr>
            <p:ph type="title"/>
          </p:nvPr>
        </p:nvSpPr>
        <p:spPr>
          <a:xfrm>
            <a:off x="1662734" y="532964"/>
            <a:ext cx="8579316" cy="708578"/>
          </a:xfrm>
          <a:solidFill>
            <a:schemeClr val="accent1">
              <a:lumMod val="20000"/>
              <a:lumOff val="80000"/>
            </a:schemeClr>
          </a:solidFill>
        </p:spPr>
        <p:txBody>
          <a:bodyPr/>
          <a:lstStyle/>
          <a:p>
            <a:pPr algn="ctr"/>
            <a:r>
              <a:rPr lang="en-IN" dirty="0">
                <a:latin typeface="Times New Roman" panose="02020603050405020304" pitchFamily="18" charset="0"/>
                <a:cs typeface="Times New Roman" panose="02020603050405020304" pitchFamily="18" charset="0"/>
              </a:rPr>
              <a:t>Introduction</a:t>
            </a:r>
          </a:p>
        </p:txBody>
      </p:sp>
      <p:pic>
        <p:nvPicPr>
          <p:cNvPr id="3" name="Image 0" descr="preencoded.png">
            <a:extLst>
              <a:ext uri="{FF2B5EF4-FFF2-40B4-BE49-F238E27FC236}">
                <a16:creationId xmlns:a16="http://schemas.microsoft.com/office/drawing/2014/main" id="{50EEDC36-64D9-4836-688A-52E752F2182E}"/>
              </a:ext>
            </a:extLst>
          </p:cNvPr>
          <p:cNvPicPr>
            <a:picLocks noChangeAspect="1"/>
          </p:cNvPicPr>
          <p:nvPr/>
        </p:nvPicPr>
        <p:blipFill>
          <a:blip r:embed="rId2"/>
          <a:srcRect l="11846" r="38495"/>
          <a:stretch>
            <a:fillRect/>
          </a:stretch>
        </p:blipFill>
        <p:spPr>
          <a:xfrm>
            <a:off x="6239610" y="1424539"/>
            <a:ext cx="5630952" cy="4610450"/>
          </a:xfrm>
          <a:prstGeom prst="rect">
            <a:avLst/>
          </a:prstGeom>
        </p:spPr>
      </p:pic>
      <p:sp>
        <p:nvSpPr>
          <p:cNvPr id="11" name="TextBox 10">
            <a:extLst>
              <a:ext uri="{FF2B5EF4-FFF2-40B4-BE49-F238E27FC236}">
                <a16:creationId xmlns:a16="http://schemas.microsoft.com/office/drawing/2014/main" id="{D7C562F6-3162-45D4-C83E-0CEE65CD8E0B}"/>
              </a:ext>
            </a:extLst>
          </p:cNvPr>
          <p:cNvSpPr txBox="1"/>
          <p:nvPr/>
        </p:nvSpPr>
        <p:spPr>
          <a:xfrm>
            <a:off x="80982" y="1299873"/>
            <a:ext cx="5871410" cy="4939814"/>
          </a:xfrm>
          <a:prstGeom prst="rect">
            <a:avLst/>
          </a:prstGeom>
          <a:noFill/>
        </p:spPr>
        <p:txBody>
          <a:bodyPr wrap="square" numCol="1" rtlCol="0">
            <a:spAutoFit/>
          </a:bodyPr>
          <a:lstStyle/>
          <a:p>
            <a:pPr lvl="1" algn="just"/>
            <a:r>
              <a:rPr lang="en-US" sz="2100" dirty="0">
                <a:latin typeface="Times New Roman" panose="02020603050405020304" pitchFamily="18" charset="0"/>
                <a:cs typeface="Times New Roman" panose="02020603050405020304" pitchFamily="18" charset="0"/>
              </a:rPr>
              <a:t>The Multimodal Lung Disease Diagnostic Assistant is an advanced AI-based system designed to improve the accuracy and efficiency of lung disease detection by analyzing both chest X-ray images and corresponding medical text data. Traditional diagnostic methods often rely on a single data type, leading to incomplete assessments and potential misdiagnoses. This system bridges that gap by integrating image processing and natural language understanding to deliver precise, explainable, and interpretable results. It aims to assist doctors with evidence-based insights while providing patients with simplified summaries, ensuring faster and more reliable diagnostic outcomes.</a:t>
            </a:r>
          </a:p>
        </p:txBody>
      </p:sp>
    </p:spTree>
    <p:extLst>
      <p:ext uri="{BB962C8B-B14F-4D97-AF65-F5344CB8AC3E}">
        <p14:creationId xmlns:p14="http://schemas.microsoft.com/office/powerpoint/2010/main" val="1008929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2AC585-1645-46F5-ACA9-835D8AC4E55F}" type="datetime1">
              <a:rPr lang="en-IN" smtClean="0"/>
              <a:t>13-11-2025</a:t>
            </a:fld>
            <a:endParaRPr lang="en-IN" dirty="0"/>
          </a:p>
        </p:txBody>
      </p:sp>
      <p:sp>
        <p:nvSpPr>
          <p:cNvPr id="5" name="Footer Placeholder 4"/>
          <p:cNvSpPr>
            <a:spLocks noGrp="1"/>
          </p:cNvSpPr>
          <p:nvPr>
            <p:ph type="ftr" sz="quarter" idx="11"/>
          </p:nvPr>
        </p:nvSpPr>
        <p:spPr/>
        <p:txBody>
          <a:bodyPr/>
          <a:lstStyle/>
          <a:p>
            <a:r>
              <a:rPr lang="en-IN"/>
              <a:t>Dept. of CSE(AI &amp; ML)</a:t>
            </a:r>
            <a:endParaRPr lang="en-IN" dirty="0"/>
          </a:p>
        </p:txBody>
      </p:sp>
      <p:sp>
        <p:nvSpPr>
          <p:cNvPr id="6" name="Slide Number Placeholder 5"/>
          <p:cNvSpPr>
            <a:spLocks noGrp="1"/>
          </p:cNvSpPr>
          <p:nvPr>
            <p:ph type="sldNum" sz="quarter" idx="12"/>
          </p:nvPr>
        </p:nvSpPr>
        <p:spPr/>
        <p:txBody>
          <a:bodyPr/>
          <a:lstStyle/>
          <a:p>
            <a:fld id="{FE253CD5-3756-4B7F-AB8B-4701AC774AF0}" type="slidenum">
              <a:rPr lang="en-IN" smtClean="0"/>
              <a:t>4</a:t>
            </a:fld>
            <a:endParaRPr lang="en-IN" dirty="0"/>
          </a:p>
        </p:txBody>
      </p:sp>
      <p:sp>
        <p:nvSpPr>
          <p:cNvPr id="7" name="Title 1">
            <a:extLst>
              <a:ext uri="{FF2B5EF4-FFF2-40B4-BE49-F238E27FC236}">
                <a16:creationId xmlns:a16="http://schemas.microsoft.com/office/drawing/2014/main" id="{2386C2FE-9AC6-DB0A-64EE-6962666B9391}"/>
              </a:ext>
            </a:extLst>
          </p:cNvPr>
          <p:cNvSpPr>
            <a:spLocks noGrp="1"/>
          </p:cNvSpPr>
          <p:nvPr>
            <p:ph type="title"/>
          </p:nvPr>
        </p:nvSpPr>
        <p:spPr>
          <a:xfrm>
            <a:off x="1375578" y="527355"/>
            <a:ext cx="9153626" cy="745900"/>
          </a:xfrm>
          <a:solidFill>
            <a:schemeClr val="accent1">
              <a:lumMod val="20000"/>
              <a:lumOff val="80000"/>
            </a:schemeClr>
          </a:solidFill>
        </p:spPr>
        <p:txBody>
          <a:bodyPr/>
          <a:lstStyle/>
          <a:p>
            <a:pPr algn="ctr"/>
            <a:r>
              <a:rPr lang="en-IN" dirty="0">
                <a:latin typeface="Times New Roman" panose="02020603050405020304" pitchFamily="18" charset="0"/>
                <a:cs typeface="Times New Roman" panose="02020603050405020304" pitchFamily="18" charset="0"/>
              </a:rPr>
              <a:t>Objective</a:t>
            </a:r>
          </a:p>
        </p:txBody>
      </p:sp>
      <p:sp>
        <p:nvSpPr>
          <p:cNvPr id="3" name="TextBox 2">
            <a:extLst>
              <a:ext uri="{FF2B5EF4-FFF2-40B4-BE49-F238E27FC236}">
                <a16:creationId xmlns:a16="http://schemas.microsoft.com/office/drawing/2014/main" id="{664B3FD1-DB9F-24D7-94E6-9E74B02EF945}"/>
              </a:ext>
            </a:extLst>
          </p:cNvPr>
          <p:cNvSpPr txBox="1"/>
          <p:nvPr/>
        </p:nvSpPr>
        <p:spPr>
          <a:xfrm>
            <a:off x="1" y="1436570"/>
            <a:ext cx="11585160" cy="5170646"/>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      </a:t>
            </a:r>
            <a:r>
              <a:rPr lang="en-US" sz="2200" b="1" i="1" dirty="0">
                <a:latin typeface="Times New Roman" panose="02020603050405020304" pitchFamily="18" charset="0"/>
                <a:cs typeface="Times New Roman" panose="02020603050405020304" pitchFamily="18" charset="0"/>
              </a:rPr>
              <a:t>Enhance diagnostic accuracy</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Combine chest X-ray image data and medical text reports to </a:t>
            </a:r>
          </a:p>
          <a:p>
            <a:r>
              <a:rPr lang="en-US" sz="2200" dirty="0">
                <a:latin typeface="Times New Roman" panose="02020603050405020304" pitchFamily="18" charset="0"/>
                <a:cs typeface="Times New Roman" panose="02020603050405020304" pitchFamily="18" charset="0"/>
              </a:rPr>
              <a:t>      produce more reliable disease detection than single-modality systems.</a:t>
            </a:r>
          </a:p>
          <a:p>
            <a:pPr algn="just"/>
            <a:endParaRPr lang="en-US" sz="2200" i="1" dirty="0">
              <a:latin typeface="Times New Roman" panose="02020603050405020304" pitchFamily="18" charset="0"/>
              <a:cs typeface="Times New Roman" panose="02020603050405020304" pitchFamily="18" charset="0"/>
            </a:endParaRPr>
          </a:p>
          <a:p>
            <a:pPr lvl="1" algn="just"/>
            <a:r>
              <a:rPr lang="en-US" sz="2200" b="1" i="1" dirty="0">
                <a:latin typeface="Times New Roman" panose="02020603050405020304" pitchFamily="18" charset="0"/>
                <a:cs typeface="Times New Roman" panose="02020603050405020304" pitchFamily="18" charset="0"/>
              </a:rPr>
              <a:t>Support clinical decision-making:</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Provide doctors with AI-driven analysis, severity prediction, and reasoning to speed up and strengthen diagnostic conclusions.</a:t>
            </a:r>
          </a:p>
          <a:p>
            <a:pPr lvl="1" algn="just"/>
            <a:br>
              <a:rPr lang="en-US" sz="2200" dirty="0">
                <a:latin typeface="Times New Roman" panose="02020603050405020304" pitchFamily="18" charset="0"/>
                <a:cs typeface="Times New Roman" panose="02020603050405020304" pitchFamily="18" charset="0"/>
              </a:rPr>
            </a:br>
            <a:r>
              <a:rPr lang="en-US" sz="2200" b="1" i="1" dirty="0">
                <a:latin typeface="Times New Roman" panose="02020603050405020304" pitchFamily="18" charset="0"/>
                <a:cs typeface="Times New Roman" panose="02020603050405020304" pitchFamily="18" charset="0"/>
              </a:rPr>
              <a:t>Improve patient accessibility:</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Offer patients an early assessment tool that summarizes findings in simple terms and guides them on next steps before visiting a doctor.</a:t>
            </a:r>
          </a:p>
          <a:p>
            <a:pPr lvl="1" algn="just"/>
            <a:br>
              <a:rPr lang="en-US" sz="2200" dirty="0">
                <a:latin typeface="Times New Roman" panose="02020603050405020304" pitchFamily="18" charset="0"/>
                <a:cs typeface="Times New Roman" panose="02020603050405020304" pitchFamily="18" charset="0"/>
              </a:rPr>
            </a:br>
            <a:r>
              <a:rPr lang="en-US" sz="2200" b="1" i="1" dirty="0">
                <a:latin typeface="Times New Roman" panose="02020603050405020304" pitchFamily="18" charset="0"/>
                <a:cs typeface="Times New Roman" panose="02020603050405020304" pitchFamily="18" charset="0"/>
              </a:rPr>
              <a:t>Reduce workload in hospitals:</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Automate preliminary screening and report interpretation to help radiologists and clinicians prioritize urgent or severe cases.</a:t>
            </a:r>
          </a:p>
          <a:p>
            <a:pPr lvl="1" algn="just"/>
            <a:br>
              <a:rPr lang="en-US" sz="2200" dirty="0">
                <a:latin typeface="Times New Roman" panose="02020603050405020304" pitchFamily="18" charset="0"/>
                <a:cs typeface="Times New Roman" panose="02020603050405020304" pitchFamily="18" charset="0"/>
              </a:rPr>
            </a:br>
            <a:r>
              <a:rPr lang="en-US" sz="2200" b="1" i="1" dirty="0">
                <a:latin typeface="Times New Roman" panose="02020603050405020304" pitchFamily="18" charset="0"/>
                <a:cs typeface="Times New Roman" panose="02020603050405020304" pitchFamily="18" charset="0"/>
              </a:rPr>
              <a:t>Increase interpretability and trust in AI:</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Visualize affected regions (e.g., heatmaps) and generate text-based explanations to make the AI’s reasoning transparent and clinically useful.</a:t>
            </a:r>
          </a:p>
          <a:p>
            <a:pPr marL="457200" indent="-457200">
              <a:buFont typeface="+mj-lt"/>
              <a:buAutoNum type="arabicPeriod"/>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2786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86C2FE-9AC6-DB0A-64EE-6962666B9391}"/>
              </a:ext>
            </a:extLst>
          </p:cNvPr>
          <p:cNvSpPr>
            <a:spLocks noGrp="1"/>
          </p:cNvSpPr>
          <p:nvPr>
            <p:ph type="title"/>
          </p:nvPr>
        </p:nvSpPr>
        <p:spPr>
          <a:xfrm>
            <a:off x="1654712" y="733356"/>
            <a:ext cx="8595360" cy="770046"/>
          </a:xfrm>
          <a:solidFill>
            <a:schemeClr val="accent1">
              <a:lumMod val="20000"/>
              <a:lumOff val="80000"/>
            </a:schemeClr>
          </a:solidFill>
        </p:spPr>
        <p:txBody>
          <a:bodyPr/>
          <a:lstStyle/>
          <a:p>
            <a:pPr algn="ctr"/>
            <a:r>
              <a:rPr lang="en-IN" dirty="0">
                <a:latin typeface="Times New Roman" panose="02020603050405020304" pitchFamily="18" charset="0"/>
                <a:cs typeface="Times New Roman" panose="02020603050405020304" pitchFamily="18" charset="0"/>
              </a:rPr>
              <a:t>Problem Statement</a:t>
            </a:r>
          </a:p>
        </p:txBody>
      </p:sp>
      <p:sp>
        <p:nvSpPr>
          <p:cNvPr id="2" name="Date Placeholder 1"/>
          <p:cNvSpPr>
            <a:spLocks noGrp="1"/>
          </p:cNvSpPr>
          <p:nvPr>
            <p:ph type="dt" sz="half" idx="10"/>
          </p:nvPr>
        </p:nvSpPr>
        <p:spPr/>
        <p:txBody>
          <a:bodyPr/>
          <a:lstStyle/>
          <a:p>
            <a:fld id="{4E9711F8-EDA2-4EB3-A240-B7D019BAF1D5}" type="datetime1">
              <a:rPr lang="en-IN" smtClean="0"/>
              <a:t>13-11-2025</a:t>
            </a:fld>
            <a:endParaRPr lang="en-IN" dirty="0"/>
          </a:p>
        </p:txBody>
      </p:sp>
      <p:sp>
        <p:nvSpPr>
          <p:cNvPr id="3" name="Slide Number Placeholder 2"/>
          <p:cNvSpPr>
            <a:spLocks noGrp="1"/>
          </p:cNvSpPr>
          <p:nvPr>
            <p:ph type="sldNum" sz="quarter" idx="12"/>
          </p:nvPr>
        </p:nvSpPr>
        <p:spPr/>
        <p:txBody>
          <a:bodyPr/>
          <a:lstStyle/>
          <a:p>
            <a:fld id="{FE253CD5-3756-4B7F-AB8B-4701AC774AF0}" type="slidenum">
              <a:rPr lang="en-IN" smtClean="0"/>
              <a:t>5</a:t>
            </a:fld>
            <a:endParaRPr lang="en-IN" dirty="0"/>
          </a:p>
        </p:txBody>
      </p:sp>
      <p:sp>
        <p:nvSpPr>
          <p:cNvPr id="7" name="Footer Placeholder 6"/>
          <p:cNvSpPr>
            <a:spLocks noGrp="1"/>
          </p:cNvSpPr>
          <p:nvPr>
            <p:ph type="ftr" sz="quarter" idx="11"/>
          </p:nvPr>
        </p:nvSpPr>
        <p:spPr/>
        <p:txBody>
          <a:bodyPr/>
          <a:lstStyle/>
          <a:p>
            <a:r>
              <a:rPr lang="en-IN"/>
              <a:t>Dept. of CSE(AI &amp; ML)</a:t>
            </a:r>
            <a:endParaRPr lang="en-IN" dirty="0"/>
          </a:p>
        </p:txBody>
      </p:sp>
      <p:sp>
        <p:nvSpPr>
          <p:cNvPr id="5" name="TextBox 4">
            <a:extLst>
              <a:ext uri="{FF2B5EF4-FFF2-40B4-BE49-F238E27FC236}">
                <a16:creationId xmlns:a16="http://schemas.microsoft.com/office/drawing/2014/main" id="{D0DE1170-AECF-76DB-07E0-A1A59AB95400}"/>
              </a:ext>
            </a:extLst>
          </p:cNvPr>
          <p:cNvSpPr txBox="1"/>
          <p:nvPr/>
        </p:nvSpPr>
        <p:spPr>
          <a:xfrm>
            <a:off x="494523" y="1791478"/>
            <a:ext cx="11152045" cy="3477875"/>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Lung diseases such as pneumonia, tuberculosis, and COVID-19 remain major global health concerns requiring timely and accurate diagnosis. Traditional diagnostic methods relying solely on chest X-rays or clinical text reports often lead to delays, misinterpretations, and inconsistent results. In many hospitals, especially in high-load or resource-limited settings, doctors face overwhelming workloads that hinder fast and accurate decision-making. Existing AI models typically analyze either images or text independently, limiting their diagnostic precision and reasoning capabilities. Therefore, there is a need for a multimodal AI system that integrates both X-ray images and medical text data to deliver accurate, interpretable, and efficient lung disease diagnosis for both doctors and patients.</a:t>
            </a:r>
          </a:p>
          <a:p>
            <a:pPr algn="just"/>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3311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DEED4C-32B7-4A98-B2C4-614544CF80F8}" type="datetime1">
              <a:rPr lang="en-IN" smtClean="0"/>
              <a:t>13-11-2025</a:t>
            </a:fld>
            <a:endParaRPr lang="en-IN" dirty="0"/>
          </a:p>
        </p:txBody>
      </p:sp>
      <p:sp>
        <p:nvSpPr>
          <p:cNvPr id="3" name="Slide Number Placeholder 2"/>
          <p:cNvSpPr>
            <a:spLocks noGrp="1"/>
          </p:cNvSpPr>
          <p:nvPr>
            <p:ph type="sldNum" sz="quarter" idx="12"/>
          </p:nvPr>
        </p:nvSpPr>
        <p:spPr/>
        <p:txBody>
          <a:bodyPr/>
          <a:lstStyle/>
          <a:p>
            <a:fld id="{FE253CD5-3756-4B7F-AB8B-4701AC774AF0}" type="slidenum">
              <a:rPr lang="en-IN" smtClean="0"/>
              <a:t>6</a:t>
            </a:fld>
            <a:endParaRPr lang="en-IN" dirty="0"/>
          </a:p>
        </p:txBody>
      </p:sp>
      <p:sp>
        <p:nvSpPr>
          <p:cNvPr id="4" name="Footer Placeholder 3"/>
          <p:cNvSpPr>
            <a:spLocks noGrp="1"/>
          </p:cNvSpPr>
          <p:nvPr>
            <p:ph type="ftr" sz="quarter" idx="11"/>
          </p:nvPr>
        </p:nvSpPr>
        <p:spPr/>
        <p:txBody>
          <a:bodyPr/>
          <a:lstStyle/>
          <a:p>
            <a:r>
              <a:rPr lang="en-IN"/>
              <a:t>Dept. of CSE(AI &amp; ML)</a:t>
            </a:r>
            <a:endParaRPr lang="en-IN" dirty="0"/>
          </a:p>
        </p:txBody>
      </p:sp>
      <p:sp>
        <p:nvSpPr>
          <p:cNvPr id="7" name="Title 1">
            <a:extLst>
              <a:ext uri="{FF2B5EF4-FFF2-40B4-BE49-F238E27FC236}">
                <a16:creationId xmlns:a16="http://schemas.microsoft.com/office/drawing/2014/main" id="{2386C2FE-9AC6-DB0A-64EE-6962666B9391}"/>
              </a:ext>
            </a:extLst>
          </p:cNvPr>
          <p:cNvSpPr>
            <a:spLocks noGrp="1"/>
          </p:cNvSpPr>
          <p:nvPr>
            <p:ph type="title"/>
          </p:nvPr>
        </p:nvSpPr>
        <p:spPr>
          <a:xfrm>
            <a:off x="1592580" y="492406"/>
            <a:ext cx="8874613" cy="724127"/>
          </a:xfrm>
          <a:solidFill>
            <a:schemeClr val="accent1">
              <a:lumMod val="20000"/>
              <a:lumOff val="80000"/>
            </a:schemeClr>
          </a:solidFill>
        </p:spPr>
        <p:txBody>
          <a:bodyPr/>
          <a:lstStyle/>
          <a:p>
            <a:pPr algn="ctr"/>
            <a:r>
              <a:rPr lang="en-GB" dirty="0"/>
              <a:t>Existing system &amp; drawbacks</a:t>
            </a:r>
            <a:endParaRPr lang="en-IN" dirty="0"/>
          </a:p>
        </p:txBody>
      </p:sp>
      <p:sp>
        <p:nvSpPr>
          <p:cNvPr id="51" name="TextBox 50">
            <a:extLst>
              <a:ext uri="{FF2B5EF4-FFF2-40B4-BE49-F238E27FC236}">
                <a16:creationId xmlns:a16="http://schemas.microsoft.com/office/drawing/2014/main" id="{8C02E4C9-7886-0712-94D3-7EF1F630E2AD}"/>
              </a:ext>
            </a:extLst>
          </p:cNvPr>
          <p:cNvSpPr txBox="1"/>
          <p:nvPr/>
        </p:nvSpPr>
        <p:spPr>
          <a:xfrm>
            <a:off x="555519" y="1245406"/>
            <a:ext cx="11080961" cy="5847755"/>
          </a:xfrm>
          <a:prstGeom prst="rect">
            <a:avLst/>
          </a:prstGeom>
          <a:noFill/>
        </p:spPr>
        <p:txBody>
          <a:bodyPr wrap="square" rtlCol="0">
            <a:spAutoFit/>
          </a:bodyPr>
          <a:lstStyle/>
          <a:p>
            <a:pPr algn="just"/>
            <a:r>
              <a:rPr lang="en-US" sz="2200" b="1" i="1" dirty="0">
                <a:latin typeface="Times New Roman" panose="02020603050405020304" pitchFamily="18" charset="0"/>
                <a:cs typeface="Times New Roman" panose="02020603050405020304" pitchFamily="18" charset="0"/>
              </a:rPr>
              <a:t>Single-modality limitation: </a:t>
            </a:r>
            <a:r>
              <a:rPr lang="en-US" sz="2200" dirty="0">
                <a:latin typeface="Times New Roman" panose="02020603050405020304" pitchFamily="18" charset="0"/>
                <a:cs typeface="Times New Roman" panose="02020603050405020304" pitchFamily="18" charset="0"/>
              </a:rPr>
              <a:t>Most systems rely only on chest X-ray images or only on text reports, missing the complementary insights that multimodal analysis can provide.</a:t>
            </a:r>
          </a:p>
          <a:p>
            <a:pPr algn="just"/>
            <a:endParaRPr lang="en-US" sz="2200" dirty="0">
              <a:latin typeface="Times New Roman" panose="02020603050405020304" pitchFamily="18" charset="0"/>
              <a:cs typeface="Times New Roman" panose="02020603050405020304" pitchFamily="18" charset="0"/>
            </a:endParaRPr>
          </a:p>
          <a:p>
            <a:pPr algn="just"/>
            <a:r>
              <a:rPr lang="en-US" sz="2200" b="1" i="1" dirty="0">
                <a:latin typeface="Times New Roman" panose="02020603050405020304" pitchFamily="18" charset="0"/>
                <a:cs typeface="Times New Roman" panose="02020603050405020304" pitchFamily="18" charset="0"/>
              </a:rPr>
              <a:t>Lack of interpretability: </a:t>
            </a:r>
            <a:r>
              <a:rPr lang="en-US" sz="2200" dirty="0">
                <a:latin typeface="Times New Roman" panose="02020603050405020304" pitchFamily="18" charset="0"/>
                <a:cs typeface="Times New Roman" panose="02020603050405020304" pitchFamily="18" charset="0"/>
              </a:rPr>
              <a:t>Many models give a disease label without explaining </a:t>
            </a:r>
            <a:r>
              <a:rPr lang="en-US" sz="2200" i="1" dirty="0">
                <a:latin typeface="Times New Roman" panose="02020603050405020304" pitchFamily="18" charset="0"/>
                <a:cs typeface="Times New Roman" panose="02020603050405020304" pitchFamily="18" charset="0"/>
              </a:rPr>
              <a:t>why</a:t>
            </a:r>
            <a:r>
              <a:rPr lang="en-US" sz="2200" dirty="0">
                <a:latin typeface="Times New Roman" panose="02020603050405020304" pitchFamily="18" charset="0"/>
                <a:cs typeface="Times New Roman" panose="02020603050405020304" pitchFamily="18" charset="0"/>
              </a:rPr>
              <a:t>, offering no visual cues (like heatmaps) or textual reasoning for doctors to verify the prediction.</a:t>
            </a:r>
          </a:p>
          <a:p>
            <a:pPr algn="just"/>
            <a:endParaRPr lang="en-US" sz="2200" dirty="0">
              <a:latin typeface="Times New Roman" panose="02020603050405020304" pitchFamily="18" charset="0"/>
              <a:cs typeface="Times New Roman" panose="02020603050405020304" pitchFamily="18" charset="0"/>
            </a:endParaRPr>
          </a:p>
          <a:p>
            <a:pPr algn="just"/>
            <a:r>
              <a:rPr lang="en-US" sz="2200" b="1" i="1" dirty="0">
                <a:latin typeface="Times New Roman" panose="02020603050405020304" pitchFamily="18" charset="0"/>
                <a:cs typeface="Times New Roman" panose="02020603050405020304" pitchFamily="18" charset="0"/>
              </a:rPr>
              <a:t>Poor generalization: </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Models trained on limited or biased datasets often fail to perform well on data from different hospitals, scanners, or patient demographics.</a:t>
            </a:r>
          </a:p>
          <a:p>
            <a:pPr algn="just"/>
            <a:endParaRPr lang="en-US" sz="2200" dirty="0">
              <a:latin typeface="Times New Roman" panose="02020603050405020304" pitchFamily="18" charset="0"/>
              <a:cs typeface="Times New Roman" panose="02020603050405020304" pitchFamily="18" charset="0"/>
            </a:endParaRPr>
          </a:p>
          <a:p>
            <a:pPr algn="just"/>
            <a:r>
              <a:rPr lang="en-US" sz="2200" b="1" i="1" dirty="0">
                <a:latin typeface="Times New Roman" panose="02020603050405020304" pitchFamily="18" charset="0"/>
                <a:cs typeface="Times New Roman" panose="02020603050405020304" pitchFamily="18" charset="0"/>
              </a:rPr>
              <a:t>No patient-friendly interface:</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Existing tools are built for specialists, offering no simplified results or guidance for patients to understand their condition or seek timely care.</a:t>
            </a:r>
          </a:p>
          <a:p>
            <a:pPr algn="just"/>
            <a:endParaRPr lang="en-US" sz="2200" dirty="0">
              <a:latin typeface="Times New Roman" panose="02020603050405020304" pitchFamily="18" charset="0"/>
              <a:cs typeface="Times New Roman" panose="02020603050405020304" pitchFamily="18" charset="0"/>
            </a:endParaRPr>
          </a:p>
          <a:p>
            <a:pPr algn="just"/>
            <a:r>
              <a:rPr lang="en-US" sz="2200" b="1" i="1" dirty="0">
                <a:latin typeface="Times New Roman" panose="02020603050405020304" pitchFamily="18" charset="0"/>
                <a:cs typeface="Times New Roman" panose="02020603050405020304" pitchFamily="18" charset="0"/>
              </a:rPr>
              <a:t>Limited clinical integration:</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Many systems are research prototypes without real-time deployment capability, making them hard to integrate with hospital workflows or electronic health records.</a:t>
            </a:r>
          </a:p>
          <a:p>
            <a:pPr algn="just"/>
            <a:endParaRPr lang="en-US" sz="2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1542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C92641-DA5C-417A-BF55-B32F79427880}" type="datetime1">
              <a:rPr lang="en-IN" smtClean="0"/>
              <a:t>13-11-2025</a:t>
            </a:fld>
            <a:endParaRPr lang="en-IN" dirty="0"/>
          </a:p>
        </p:txBody>
      </p:sp>
      <p:sp>
        <p:nvSpPr>
          <p:cNvPr id="3" name="Slide Number Placeholder 2"/>
          <p:cNvSpPr>
            <a:spLocks noGrp="1"/>
          </p:cNvSpPr>
          <p:nvPr>
            <p:ph type="sldNum" sz="quarter" idx="12"/>
          </p:nvPr>
        </p:nvSpPr>
        <p:spPr/>
        <p:txBody>
          <a:bodyPr/>
          <a:lstStyle/>
          <a:p>
            <a:fld id="{FE253CD5-3756-4B7F-AB8B-4701AC774AF0}" type="slidenum">
              <a:rPr lang="en-IN" smtClean="0"/>
              <a:t>7</a:t>
            </a:fld>
            <a:endParaRPr lang="en-IN" dirty="0"/>
          </a:p>
        </p:txBody>
      </p:sp>
      <p:sp>
        <p:nvSpPr>
          <p:cNvPr id="4" name="Footer Placeholder 3"/>
          <p:cNvSpPr>
            <a:spLocks noGrp="1"/>
          </p:cNvSpPr>
          <p:nvPr>
            <p:ph type="ftr" sz="quarter" idx="11"/>
          </p:nvPr>
        </p:nvSpPr>
        <p:spPr/>
        <p:txBody>
          <a:bodyPr/>
          <a:lstStyle/>
          <a:p>
            <a:r>
              <a:rPr lang="en-IN"/>
              <a:t>Dept. of CSE(AI &amp; ML)</a:t>
            </a:r>
            <a:endParaRPr lang="en-IN" dirty="0"/>
          </a:p>
        </p:txBody>
      </p:sp>
      <p:sp>
        <p:nvSpPr>
          <p:cNvPr id="7" name="Title 1">
            <a:extLst>
              <a:ext uri="{FF2B5EF4-FFF2-40B4-BE49-F238E27FC236}">
                <a16:creationId xmlns:a16="http://schemas.microsoft.com/office/drawing/2014/main" id="{2386C2FE-9AC6-DB0A-64EE-6962666B9391}"/>
              </a:ext>
            </a:extLst>
          </p:cNvPr>
          <p:cNvSpPr>
            <a:spLocks noGrp="1"/>
          </p:cNvSpPr>
          <p:nvPr>
            <p:ph type="title"/>
          </p:nvPr>
        </p:nvSpPr>
        <p:spPr>
          <a:xfrm>
            <a:off x="1760590" y="543132"/>
            <a:ext cx="8383604" cy="625642"/>
          </a:xfrm>
          <a:solidFill>
            <a:schemeClr val="accent1">
              <a:lumMod val="20000"/>
              <a:lumOff val="80000"/>
            </a:schemeClr>
          </a:solidFill>
        </p:spPr>
        <p:txBody>
          <a:bodyPr/>
          <a:lstStyle/>
          <a:p>
            <a:pPr algn="ctr"/>
            <a:r>
              <a:rPr lang="en-IN" dirty="0">
                <a:latin typeface="Times New Roman" panose="02020603050405020304" pitchFamily="18" charset="0"/>
                <a:cs typeface="Times New Roman" panose="02020603050405020304" pitchFamily="18" charset="0"/>
              </a:rPr>
              <a:t>Literature Review:</a:t>
            </a:r>
          </a:p>
        </p:txBody>
      </p:sp>
      <p:graphicFrame>
        <p:nvGraphicFramePr>
          <p:cNvPr id="5" name="Table 4">
            <a:extLst>
              <a:ext uri="{FF2B5EF4-FFF2-40B4-BE49-F238E27FC236}">
                <a16:creationId xmlns:a16="http://schemas.microsoft.com/office/drawing/2014/main" id="{456EDF28-9483-F530-00F0-AE17AA4EDDEC}"/>
              </a:ext>
            </a:extLst>
          </p:cNvPr>
          <p:cNvGraphicFramePr>
            <a:graphicFrameLocks noGrp="1"/>
          </p:cNvGraphicFramePr>
          <p:nvPr>
            <p:extLst>
              <p:ext uri="{D42A27DB-BD31-4B8C-83A1-F6EECF244321}">
                <p14:modId xmlns:p14="http://schemas.microsoft.com/office/powerpoint/2010/main" val="1671903862"/>
              </p:ext>
            </p:extLst>
          </p:nvPr>
        </p:nvGraphicFramePr>
        <p:xfrm>
          <a:off x="375385" y="1299411"/>
          <a:ext cx="11521441" cy="4926302"/>
        </p:xfrm>
        <a:graphic>
          <a:graphicData uri="http://schemas.openxmlformats.org/drawingml/2006/table">
            <a:tbl>
              <a:tblPr/>
              <a:tblGrid>
                <a:gridCol w="481263">
                  <a:extLst>
                    <a:ext uri="{9D8B030D-6E8A-4147-A177-3AD203B41FA5}">
                      <a16:colId xmlns:a16="http://schemas.microsoft.com/office/drawing/2014/main" val="666159721"/>
                    </a:ext>
                  </a:extLst>
                </a:gridCol>
                <a:gridCol w="1164657">
                  <a:extLst>
                    <a:ext uri="{9D8B030D-6E8A-4147-A177-3AD203B41FA5}">
                      <a16:colId xmlns:a16="http://schemas.microsoft.com/office/drawing/2014/main" val="1300122474"/>
                    </a:ext>
                  </a:extLst>
                </a:gridCol>
                <a:gridCol w="2348564">
                  <a:extLst>
                    <a:ext uri="{9D8B030D-6E8A-4147-A177-3AD203B41FA5}">
                      <a16:colId xmlns:a16="http://schemas.microsoft.com/office/drawing/2014/main" val="194516535"/>
                    </a:ext>
                  </a:extLst>
                </a:gridCol>
                <a:gridCol w="1626670">
                  <a:extLst>
                    <a:ext uri="{9D8B030D-6E8A-4147-A177-3AD203B41FA5}">
                      <a16:colId xmlns:a16="http://schemas.microsoft.com/office/drawing/2014/main" val="2141784374"/>
                    </a:ext>
                  </a:extLst>
                </a:gridCol>
                <a:gridCol w="1722922">
                  <a:extLst>
                    <a:ext uri="{9D8B030D-6E8A-4147-A177-3AD203B41FA5}">
                      <a16:colId xmlns:a16="http://schemas.microsoft.com/office/drawing/2014/main" val="1777026316"/>
                    </a:ext>
                  </a:extLst>
                </a:gridCol>
                <a:gridCol w="1395663">
                  <a:extLst>
                    <a:ext uri="{9D8B030D-6E8A-4147-A177-3AD203B41FA5}">
                      <a16:colId xmlns:a16="http://schemas.microsoft.com/office/drawing/2014/main" val="1841637597"/>
                    </a:ext>
                  </a:extLst>
                </a:gridCol>
                <a:gridCol w="2781702">
                  <a:extLst>
                    <a:ext uri="{9D8B030D-6E8A-4147-A177-3AD203B41FA5}">
                      <a16:colId xmlns:a16="http://schemas.microsoft.com/office/drawing/2014/main" val="2489961420"/>
                    </a:ext>
                  </a:extLst>
                </a:gridCol>
              </a:tblGrid>
              <a:tr h="323573">
                <a:tc>
                  <a:txBody>
                    <a:bodyPr/>
                    <a:lstStyle/>
                    <a:p>
                      <a:pPr fontAlgn="base">
                        <a:buNone/>
                      </a:pPr>
                      <a:r>
                        <a:rPr lang="en-IN" sz="1100" b="1" dirty="0" err="1">
                          <a:effectLst/>
                          <a:latin typeface="Poppins" panose="00000500000000000000" pitchFamily="2" charset="0"/>
                        </a:rPr>
                        <a:t>S.No</a:t>
                      </a:r>
                      <a:r>
                        <a:rPr lang="en-IN" sz="1100" b="1" dirty="0">
                          <a:effectLst/>
                          <a:latin typeface="Poppins" panose="00000500000000000000" pitchFamily="2" charset="0"/>
                        </a:rPr>
                        <a:t>.</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fontAlgn="base">
                        <a:buNone/>
                      </a:pPr>
                      <a:r>
                        <a:rPr lang="en-IN" sz="1100" b="1" dirty="0">
                          <a:effectLst/>
                          <a:latin typeface="Poppins" panose="00000500000000000000" pitchFamily="2" charset="0"/>
                        </a:rPr>
                        <a:t>Author(s) &amp; Year</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fontAlgn="base">
                        <a:buNone/>
                      </a:pPr>
                      <a:r>
                        <a:rPr lang="en-IN" sz="1100" b="1" dirty="0">
                          <a:effectLst/>
                          <a:latin typeface="Poppins" panose="00000500000000000000" pitchFamily="2" charset="0"/>
                        </a:rPr>
                        <a:t>Title of the Study</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fontAlgn="base">
                        <a:buNone/>
                      </a:pPr>
                      <a:r>
                        <a:rPr lang="en-IN" sz="1100" b="1" dirty="0">
                          <a:effectLst/>
                          <a:latin typeface="Poppins" panose="00000500000000000000" pitchFamily="2" charset="0"/>
                        </a:rPr>
                        <a:t>Methodology </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fontAlgn="base">
                        <a:buNone/>
                      </a:pPr>
                      <a:r>
                        <a:rPr lang="en-IN" sz="1100" b="1" dirty="0">
                          <a:effectLst/>
                          <a:latin typeface="Poppins" panose="00000500000000000000" pitchFamily="2" charset="0"/>
                        </a:rPr>
                        <a:t>Dataset / Source</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fontAlgn="base">
                        <a:buNone/>
                      </a:pPr>
                      <a:r>
                        <a:rPr lang="en-IN" sz="1100" b="1" dirty="0">
                          <a:effectLst/>
                          <a:latin typeface="Poppins" panose="00000500000000000000" pitchFamily="2" charset="0"/>
                        </a:rPr>
                        <a:t>Key Findings</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fontAlgn="base">
                        <a:buNone/>
                      </a:pPr>
                      <a:r>
                        <a:rPr lang="en-IN" sz="1100" b="1" dirty="0">
                          <a:effectLst/>
                          <a:latin typeface="Poppins" panose="00000500000000000000" pitchFamily="2" charset="0"/>
                        </a:rPr>
                        <a:t>Limitations / Future Scope</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35736013"/>
                  </a:ext>
                </a:extLst>
              </a:tr>
              <a:tr h="693763">
                <a:tc>
                  <a:txBody>
                    <a:bodyPr/>
                    <a:lstStyle/>
                    <a:p>
                      <a:pPr fontAlgn="base">
                        <a:buNone/>
                      </a:pPr>
                      <a:r>
                        <a:rPr lang="en-IN" sz="1100" b="0" dirty="0">
                          <a:solidFill>
                            <a:srgbClr val="000000"/>
                          </a:solidFill>
                          <a:effectLst/>
                          <a:latin typeface="Poppins" panose="00000500000000000000" pitchFamily="2" charset="0"/>
                        </a:rPr>
                        <a:t>1</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da-DK" sz="1100" b="0" dirty="0">
                          <a:solidFill>
                            <a:srgbClr val="000000"/>
                          </a:solidFill>
                          <a:effectLst/>
                          <a:latin typeface="Poppins" panose="00000500000000000000" pitchFamily="2" charset="0"/>
                        </a:rPr>
                        <a:t>A. Gupta et al., 2024</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A Novel Lightweight CNN for Chest X-Ray Based Lung Disease Identification</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CNN (for images only)</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Public Chest X-Ray datasets (NIH CXR-14, Kaggle Pneumonia).</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Achieved ~92% accuracy; </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Only image data used; lacks patient context or textual understanding.</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72018632"/>
                  </a:ext>
                </a:extLst>
              </a:tr>
              <a:tr h="841839">
                <a:tc>
                  <a:txBody>
                    <a:bodyPr/>
                    <a:lstStyle/>
                    <a:p>
                      <a:pPr fontAlgn="base">
                        <a:buNone/>
                      </a:pPr>
                      <a:r>
                        <a:rPr lang="en-IN" sz="1100" b="0">
                          <a:solidFill>
                            <a:srgbClr val="000000"/>
                          </a:solidFill>
                          <a:effectLst/>
                          <a:latin typeface="Poppins" panose="00000500000000000000" pitchFamily="2" charset="0"/>
                        </a:rPr>
                        <a:t>2</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da-DK" sz="1100" b="0" dirty="0">
                          <a:solidFill>
                            <a:srgbClr val="000000"/>
                          </a:solidFill>
                          <a:effectLst/>
                          <a:latin typeface="Poppins" panose="00000500000000000000" pitchFamily="2" charset="0"/>
                        </a:rPr>
                        <a:t>S. Kumar et al., 2023</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Deep Learning Enabled Multimodal Data Fusion for Lung Disease Diagnosis</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a:solidFill>
                            <a:srgbClr val="000000"/>
                          </a:solidFill>
                          <a:effectLst/>
                          <a:latin typeface="Poppins" panose="00000500000000000000" pitchFamily="2" charset="0"/>
                        </a:rPr>
                        <a:t>CNN (for images) + MLP (for clinical data)</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a:solidFill>
                            <a:srgbClr val="000000"/>
                          </a:solidFill>
                          <a:effectLst/>
                          <a:latin typeface="Poppins" panose="00000500000000000000" pitchFamily="2" charset="0"/>
                        </a:rPr>
                        <a:t>Hospital dataset with CT scans and patient records.</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Reached ~93% accuracy; </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Simple fusion without attention or semantic relationships; can add transformers.</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73088242"/>
                  </a:ext>
                </a:extLst>
              </a:tr>
              <a:tr h="915876">
                <a:tc>
                  <a:txBody>
                    <a:bodyPr/>
                    <a:lstStyle/>
                    <a:p>
                      <a:pPr fontAlgn="base">
                        <a:buNone/>
                      </a:pPr>
                      <a:r>
                        <a:rPr lang="en-IN" sz="1100" b="0">
                          <a:solidFill>
                            <a:srgbClr val="000000"/>
                          </a:solidFill>
                          <a:effectLst/>
                          <a:latin typeface="Poppins" panose="00000500000000000000" pitchFamily="2" charset="0"/>
                        </a:rPr>
                        <a:t>3</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da-DK" sz="1100" b="0">
                          <a:solidFill>
                            <a:srgbClr val="000000"/>
                          </a:solidFill>
                          <a:effectLst/>
                          <a:latin typeface="Poppins" panose="00000500000000000000" pitchFamily="2" charset="0"/>
                        </a:rPr>
                        <a:t>R. Patel et al., 2023</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Multimodal Approach for Lung Disease Classification (Fusing Chest X-Ray Images and Clinical Texts)</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a:solidFill>
                            <a:srgbClr val="000000"/>
                          </a:solidFill>
                          <a:effectLst/>
                          <a:latin typeface="Poppins" panose="00000500000000000000" pitchFamily="2" charset="0"/>
                        </a:rPr>
                        <a:t>CNN for X-ray features + Bi-LSTM for clinical text.</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a:solidFill>
                            <a:srgbClr val="000000"/>
                          </a:solidFill>
                          <a:effectLst/>
                          <a:latin typeface="Poppins" panose="00000500000000000000" pitchFamily="2" charset="0"/>
                        </a:rPr>
                        <a:t>COVIDx and other chest X-ray datasets with clinical text reports.</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Reported AUC = 0.89; </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No attention mechanism; LSTM can be replaced by transformer for better context.</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91064994"/>
                  </a:ext>
                </a:extLst>
              </a:tr>
              <a:tr h="915876">
                <a:tc>
                  <a:txBody>
                    <a:bodyPr/>
                    <a:lstStyle/>
                    <a:p>
                      <a:pPr fontAlgn="base">
                        <a:buNone/>
                      </a:pPr>
                      <a:r>
                        <a:rPr lang="en-IN" sz="1100" b="0">
                          <a:solidFill>
                            <a:srgbClr val="000000"/>
                          </a:solidFill>
                          <a:effectLst/>
                          <a:latin typeface="Poppins" panose="00000500000000000000" pitchFamily="2" charset="0"/>
                        </a:rPr>
                        <a:t>4</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da-DK" sz="1100" b="0">
                          <a:solidFill>
                            <a:srgbClr val="000000"/>
                          </a:solidFill>
                          <a:effectLst/>
                          <a:latin typeface="Poppins" panose="00000500000000000000" pitchFamily="2" charset="0"/>
                        </a:rPr>
                        <a:t>J. Lee et al., 2025</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a:solidFill>
                            <a:srgbClr val="000000"/>
                          </a:solidFill>
                          <a:effectLst/>
                          <a:latin typeface="Poppins" panose="00000500000000000000" pitchFamily="2" charset="0"/>
                        </a:rPr>
                        <a:t>Multimodal Feature Distinguishing and Deep Learning Approach to Detect Lung Disease from MRI Images</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Transformer-based model </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MRI lung dataset (Nature Scientific Reports 2025).</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Achieved ~94% accuracy (AUC ≈ 0.92); </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a:solidFill>
                            <a:srgbClr val="000000"/>
                          </a:solidFill>
                          <a:effectLst/>
                          <a:latin typeface="Poppins" panose="00000500000000000000" pitchFamily="2" charset="0"/>
                        </a:rPr>
                        <a:t>Limited to MRI and two modalities; can add CT and textual data for improvement.</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16955808"/>
                  </a:ext>
                </a:extLst>
              </a:tr>
              <a:tr h="1063952">
                <a:tc>
                  <a:txBody>
                    <a:bodyPr/>
                    <a:lstStyle/>
                    <a:p>
                      <a:pPr fontAlgn="base">
                        <a:buNone/>
                      </a:pPr>
                      <a:r>
                        <a:rPr lang="en-IN" sz="1100" b="0">
                          <a:solidFill>
                            <a:srgbClr val="000000"/>
                          </a:solidFill>
                          <a:effectLst/>
                          <a:latin typeface="Poppins" panose="00000500000000000000" pitchFamily="2" charset="0"/>
                        </a:rPr>
                        <a:t>5</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Bin Zhong et al., 2024</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a:solidFill>
                            <a:srgbClr val="000000"/>
                          </a:solidFill>
                          <a:effectLst/>
                          <a:latin typeface="Poppins" panose="00000500000000000000" pitchFamily="2" charset="0"/>
                        </a:rPr>
                        <a:t>ILDIM-MFAM: Interstitial Lung Disease Identification Model Using Multi-Modal Fusion Attention Mechanism</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CNN for CT images + Bi-LSTM for physiological data + Self-Attention for text, fused via Transformer-based MFAM.</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ILD dataset containing CT images, physiological readings, and clinical text.</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AUC = 0.96 with strong precision and recall; </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uNone/>
                      </a:pPr>
                      <a:r>
                        <a:rPr lang="en-IN" sz="1100" b="0" dirty="0">
                          <a:solidFill>
                            <a:srgbClr val="000000"/>
                          </a:solidFill>
                          <a:effectLst/>
                          <a:latin typeface="Poppins" panose="00000500000000000000" pitchFamily="2" charset="0"/>
                        </a:rPr>
                        <a:t>Limited dataset size; lacks visual explainability; can use transformer encoders for all modalities.</a:t>
                      </a:r>
                    </a:p>
                  </a:txBody>
                  <a:tcPr marL="25094" marR="25094" marT="12547" marB="125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4547650"/>
                  </a:ext>
                </a:extLst>
              </a:tr>
            </a:tbl>
          </a:graphicData>
        </a:graphic>
      </p:graphicFrame>
    </p:spTree>
    <p:extLst>
      <p:ext uri="{BB962C8B-B14F-4D97-AF65-F5344CB8AC3E}">
        <p14:creationId xmlns:p14="http://schemas.microsoft.com/office/powerpoint/2010/main" val="1721288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86C2FE-9AC6-DB0A-64EE-6962666B9391}"/>
              </a:ext>
            </a:extLst>
          </p:cNvPr>
          <p:cNvSpPr>
            <a:spLocks noGrp="1"/>
          </p:cNvSpPr>
          <p:nvPr>
            <p:ph type="title"/>
          </p:nvPr>
        </p:nvSpPr>
        <p:spPr>
          <a:xfrm>
            <a:off x="2256291" y="502713"/>
            <a:ext cx="7392201" cy="790160"/>
          </a:xfrm>
          <a:solidFill>
            <a:schemeClr val="accent1">
              <a:lumMod val="20000"/>
              <a:lumOff val="80000"/>
            </a:schemeClr>
          </a:solidFill>
        </p:spPr>
        <p:txBody>
          <a:bodyPr/>
          <a:lstStyle/>
          <a:p>
            <a:pPr algn="ctr"/>
            <a:r>
              <a:rPr lang="en-IN" dirty="0"/>
              <a:t>Proposed Solution</a:t>
            </a:r>
          </a:p>
        </p:txBody>
      </p:sp>
      <p:sp>
        <p:nvSpPr>
          <p:cNvPr id="3" name="Date Placeholder 2"/>
          <p:cNvSpPr>
            <a:spLocks noGrp="1"/>
          </p:cNvSpPr>
          <p:nvPr>
            <p:ph type="dt" sz="half" idx="10"/>
          </p:nvPr>
        </p:nvSpPr>
        <p:spPr/>
        <p:txBody>
          <a:bodyPr/>
          <a:lstStyle/>
          <a:p>
            <a:fld id="{35045461-0E0E-4355-B652-4816EC44C3D9}" type="datetime1">
              <a:rPr lang="en-IN" smtClean="0"/>
              <a:t>13-11-2025</a:t>
            </a:fld>
            <a:endParaRPr lang="en-IN" dirty="0"/>
          </a:p>
        </p:txBody>
      </p:sp>
      <p:sp>
        <p:nvSpPr>
          <p:cNvPr id="5" name="Slide Number Placeholder 4"/>
          <p:cNvSpPr>
            <a:spLocks noGrp="1"/>
          </p:cNvSpPr>
          <p:nvPr>
            <p:ph type="sldNum" sz="quarter" idx="12"/>
          </p:nvPr>
        </p:nvSpPr>
        <p:spPr/>
        <p:txBody>
          <a:bodyPr/>
          <a:lstStyle/>
          <a:p>
            <a:fld id="{FE253CD5-3756-4B7F-AB8B-4701AC774AF0}" type="slidenum">
              <a:rPr lang="en-IN" smtClean="0"/>
              <a:t>8</a:t>
            </a:fld>
            <a:endParaRPr lang="en-IN" dirty="0"/>
          </a:p>
        </p:txBody>
      </p:sp>
      <p:sp>
        <p:nvSpPr>
          <p:cNvPr id="6" name="Footer Placeholder 5"/>
          <p:cNvSpPr>
            <a:spLocks noGrp="1"/>
          </p:cNvSpPr>
          <p:nvPr>
            <p:ph type="ftr" sz="quarter" idx="11"/>
          </p:nvPr>
        </p:nvSpPr>
        <p:spPr/>
        <p:txBody>
          <a:bodyPr/>
          <a:lstStyle/>
          <a:p>
            <a:r>
              <a:rPr lang="en-IN"/>
              <a:t>Dept. of CSE(AI &amp; ML)</a:t>
            </a:r>
            <a:endParaRPr lang="en-IN" dirty="0"/>
          </a:p>
        </p:txBody>
      </p:sp>
      <p:sp>
        <p:nvSpPr>
          <p:cNvPr id="7" name="TextBox 6">
            <a:extLst>
              <a:ext uri="{FF2B5EF4-FFF2-40B4-BE49-F238E27FC236}">
                <a16:creationId xmlns:a16="http://schemas.microsoft.com/office/drawing/2014/main" id="{497EA05D-D3CB-92E2-F90F-C3304C41E5F2}"/>
              </a:ext>
            </a:extLst>
          </p:cNvPr>
          <p:cNvSpPr txBox="1"/>
          <p:nvPr/>
        </p:nvSpPr>
        <p:spPr>
          <a:xfrm>
            <a:off x="510140" y="1348266"/>
            <a:ext cx="11356244" cy="5170646"/>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proposed solution is a multimodal AI-driven diagnostic system that integrates both chest X-ray images and corresponding medical text data to detect and analyze lung diseases.</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By combining visual and textual information, the system overcomes the limitations of single-modality models that rely only on imaging or clinical notes. </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is designed with two user modes, Doctor Mode and Patient Mode. </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Doctor Mode provides detailed analytical breakdowns to support clinical decision-making, while Patient Mode delivers a simplified summary with understandable explanations and next-step guidance. </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approach aims to reduce diagnostic delays, improve accuracy, assist overburdened healthcare professionals, and empower patients with accessible and faster diagnostic process.</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7426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8769A-B244-B6AB-F665-4A2E88B862ED}"/>
              </a:ext>
            </a:extLst>
          </p:cNvPr>
          <p:cNvSpPr>
            <a:spLocks noGrp="1"/>
          </p:cNvSpPr>
          <p:nvPr>
            <p:ph type="title"/>
          </p:nvPr>
        </p:nvSpPr>
        <p:spPr>
          <a:xfrm>
            <a:off x="583630" y="3031958"/>
            <a:ext cx="11024740" cy="721895"/>
          </a:xfrm>
          <a:solidFill>
            <a:schemeClr val="accent1">
              <a:lumMod val="20000"/>
              <a:lumOff val="80000"/>
            </a:schemeClr>
          </a:solidFill>
        </p:spPr>
        <p:txBody>
          <a:bodyPr/>
          <a:lstStyle/>
          <a:p>
            <a:pPr algn="ctr"/>
            <a:r>
              <a:rPr lang="en-IN" dirty="0"/>
              <a:t>SYSTEM REQUIREMENTS</a:t>
            </a:r>
          </a:p>
        </p:txBody>
      </p:sp>
      <p:sp>
        <p:nvSpPr>
          <p:cNvPr id="4" name="Date Placeholder 3">
            <a:extLst>
              <a:ext uri="{FF2B5EF4-FFF2-40B4-BE49-F238E27FC236}">
                <a16:creationId xmlns:a16="http://schemas.microsoft.com/office/drawing/2014/main" id="{E64C59AC-0A06-863C-EB89-EDA812415054}"/>
              </a:ext>
            </a:extLst>
          </p:cNvPr>
          <p:cNvSpPr>
            <a:spLocks noGrp="1"/>
          </p:cNvSpPr>
          <p:nvPr>
            <p:ph type="dt" sz="half" idx="10"/>
          </p:nvPr>
        </p:nvSpPr>
        <p:spPr/>
        <p:txBody>
          <a:bodyPr/>
          <a:lstStyle/>
          <a:p>
            <a:fld id="{682AC585-1645-46F5-ACA9-835D8AC4E55F}" type="datetime1">
              <a:rPr lang="en-IN" smtClean="0"/>
              <a:t>13-11-2025</a:t>
            </a:fld>
            <a:endParaRPr lang="en-IN" dirty="0"/>
          </a:p>
        </p:txBody>
      </p:sp>
      <p:sp>
        <p:nvSpPr>
          <p:cNvPr id="5" name="Footer Placeholder 4">
            <a:extLst>
              <a:ext uri="{FF2B5EF4-FFF2-40B4-BE49-F238E27FC236}">
                <a16:creationId xmlns:a16="http://schemas.microsoft.com/office/drawing/2014/main" id="{93982DA1-8D21-C029-F995-552FEC73D7A6}"/>
              </a:ext>
            </a:extLst>
          </p:cNvPr>
          <p:cNvSpPr>
            <a:spLocks noGrp="1"/>
          </p:cNvSpPr>
          <p:nvPr>
            <p:ph type="ftr" sz="quarter" idx="11"/>
          </p:nvPr>
        </p:nvSpPr>
        <p:spPr/>
        <p:txBody>
          <a:bodyPr/>
          <a:lstStyle/>
          <a:p>
            <a:r>
              <a:rPr lang="en-IN"/>
              <a:t>Dept. of CSE(AI &amp; ML)</a:t>
            </a:r>
            <a:endParaRPr lang="en-IN" dirty="0"/>
          </a:p>
        </p:txBody>
      </p:sp>
      <p:sp>
        <p:nvSpPr>
          <p:cNvPr id="6" name="Slide Number Placeholder 5">
            <a:extLst>
              <a:ext uri="{FF2B5EF4-FFF2-40B4-BE49-F238E27FC236}">
                <a16:creationId xmlns:a16="http://schemas.microsoft.com/office/drawing/2014/main" id="{BB1AE78B-C3AF-4752-0460-2BB3C50A2D4D}"/>
              </a:ext>
            </a:extLst>
          </p:cNvPr>
          <p:cNvSpPr>
            <a:spLocks noGrp="1"/>
          </p:cNvSpPr>
          <p:nvPr>
            <p:ph type="sldNum" sz="quarter" idx="12"/>
          </p:nvPr>
        </p:nvSpPr>
        <p:spPr/>
        <p:txBody>
          <a:bodyPr/>
          <a:lstStyle/>
          <a:p>
            <a:fld id="{FE253CD5-3756-4B7F-AB8B-4701AC774AF0}" type="slidenum">
              <a:rPr lang="en-IN" smtClean="0"/>
              <a:t>9</a:t>
            </a:fld>
            <a:endParaRPr lang="en-IN" dirty="0"/>
          </a:p>
        </p:txBody>
      </p:sp>
    </p:spTree>
    <p:extLst>
      <p:ext uri="{BB962C8B-B14F-4D97-AF65-F5344CB8AC3E}">
        <p14:creationId xmlns:p14="http://schemas.microsoft.com/office/powerpoint/2010/main" val="2032746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87CA0F-20C9-4FFE-BDE2-BF62AAF1EA19}" type="datetime1">
              <a:rPr lang="en-IN" smtClean="0"/>
              <a:t>13-11-2025</a:t>
            </a:fld>
            <a:endParaRPr lang="en-IN" dirty="0"/>
          </a:p>
        </p:txBody>
      </p:sp>
      <p:sp>
        <p:nvSpPr>
          <p:cNvPr id="3" name="Slide Number Placeholder 2"/>
          <p:cNvSpPr>
            <a:spLocks noGrp="1"/>
          </p:cNvSpPr>
          <p:nvPr>
            <p:ph type="sldNum" sz="quarter" idx="12"/>
          </p:nvPr>
        </p:nvSpPr>
        <p:spPr/>
        <p:txBody>
          <a:bodyPr/>
          <a:lstStyle/>
          <a:p>
            <a:fld id="{FE253CD5-3756-4B7F-AB8B-4701AC774AF0}" type="slidenum">
              <a:rPr lang="en-IN" smtClean="0"/>
              <a:t>10</a:t>
            </a:fld>
            <a:endParaRPr lang="en-IN" dirty="0"/>
          </a:p>
        </p:txBody>
      </p:sp>
      <p:sp>
        <p:nvSpPr>
          <p:cNvPr id="6" name="Footer Placeholder 5"/>
          <p:cNvSpPr>
            <a:spLocks noGrp="1"/>
          </p:cNvSpPr>
          <p:nvPr>
            <p:ph type="ftr" sz="quarter" idx="11"/>
          </p:nvPr>
        </p:nvSpPr>
        <p:spPr/>
        <p:txBody>
          <a:bodyPr/>
          <a:lstStyle/>
          <a:p>
            <a:r>
              <a:rPr lang="en-IN"/>
              <a:t>Dept. of CSE(AI &amp; ML)</a:t>
            </a:r>
            <a:endParaRPr lang="en-IN" dirty="0"/>
          </a:p>
        </p:txBody>
      </p:sp>
      <p:sp>
        <p:nvSpPr>
          <p:cNvPr id="7" name="Title 1">
            <a:extLst>
              <a:ext uri="{FF2B5EF4-FFF2-40B4-BE49-F238E27FC236}">
                <a16:creationId xmlns:a16="http://schemas.microsoft.com/office/drawing/2014/main" id="{2386C2FE-9AC6-DB0A-64EE-6962666B9391}"/>
              </a:ext>
            </a:extLst>
          </p:cNvPr>
          <p:cNvSpPr>
            <a:spLocks noGrp="1"/>
          </p:cNvSpPr>
          <p:nvPr>
            <p:ph type="title"/>
          </p:nvPr>
        </p:nvSpPr>
        <p:spPr>
          <a:xfrm>
            <a:off x="1437434" y="633762"/>
            <a:ext cx="9029915" cy="675274"/>
          </a:xfrm>
          <a:solidFill>
            <a:schemeClr val="accent1">
              <a:lumMod val="20000"/>
              <a:lumOff val="80000"/>
            </a:schemeClr>
          </a:solidFill>
        </p:spPr>
        <p:txBody>
          <a:bodyPr/>
          <a:lstStyle/>
          <a:p>
            <a:pPr algn="ctr"/>
            <a:r>
              <a:rPr lang="en-IN" dirty="0">
                <a:latin typeface="Times New Roman" panose="02020603050405020304" pitchFamily="18" charset="0"/>
                <a:cs typeface="Times New Roman" panose="02020603050405020304" pitchFamily="18" charset="0"/>
              </a:rPr>
              <a:t>Software Requirements</a:t>
            </a:r>
          </a:p>
        </p:txBody>
      </p:sp>
      <p:sp>
        <p:nvSpPr>
          <p:cNvPr id="10" name="Rectangle 3">
            <a:extLst>
              <a:ext uri="{FF2B5EF4-FFF2-40B4-BE49-F238E27FC236}">
                <a16:creationId xmlns:a16="http://schemas.microsoft.com/office/drawing/2014/main" id="{CDC75D8A-0959-54EB-4F6F-4E23F5239F68}"/>
              </a:ext>
            </a:extLst>
          </p:cNvPr>
          <p:cNvSpPr>
            <a:spLocks noChangeArrowheads="1"/>
          </p:cNvSpPr>
          <p:nvPr/>
        </p:nvSpPr>
        <p:spPr bwMode="auto">
          <a:xfrm>
            <a:off x="556847" y="1393249"/>
            <a:ext cx="1118597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200" b="1" dirty="0">
                <a:latin typeface="Times New Roman" panose="02020603050405020304" pitchFamily="18" charset="0"/>
                <a:cs typeface="Times New Roman" panose="02020603050405020304" pitchFamily="18" charset="0"/>
              </a:rPr>
              <a:t>Operating System:</a:t>
            </a:r>
            <a:r>
              <a:rPr lang="en-US" altLang="en-US" sz="2200" dirty="0">
                <a:latin typeface="Times New Roman" panose="02020603050405020304" pitchFamily="18" charset="0"/>
                <a:cs typeface="Times New Roman" panose="02020603050405020304" pitchFamily="18" charset="0"/>
              </a:rPr>
              <a:t> Windows 10/11</a:t>
            </a:r>
          </a:p>
          <a:p>
            <a:pPr marL="342900" lvl="0" indent="-342900" eaLnBrk="0" fontAlgn="base" hangingPunct="0">
              <a:spcBef>
                <a:spcPct val="0"/>
              </a:spcBef>
              <a:spcAft>
                <a:spcPct val="0"/>
              </a:spcAft>
              <a:buFont typeface="Arial" panose="020B0604020202020204" pitchFamily="34" charset="0"/>
              <a:buChar char="•"/>
            </a:pPr>
            <a:endParaRPr lang="en-US" altLang="en-US" sz="2200" b="1"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200" b="1" dirty="0">
                <a:latin typeface="Times New Roman" panose="02020603050405020304" pitchFamily="18" charset="0"/>
                <a:cs typeface="Times New Roman" panose="02020603050405020304" pitchFamily="18" charset="0"/>
              </a:rPr>
              <a:t>Programming Languages:</a:t>
            </a:r>
            <a:r>
              <a:rPr lang="en-US" altLang="en-US" sz="2200" dirty="0">
                <a:latin typeface="Times New Roman" panose="02020603050405020304" pitchFamily="18" charset="0"/>
                <a:cs typeface="Times New Roman" panose="02020603050405020304" pitchFamily="18" charset="0"/>
              </a:rPr>
              <a:t> Python 3.8+ </a:t>
            </a:r>
          </a:p>
          <a:p>
            <a:pPr lvl="0" eaLnBrk="0" fontAlgn="base" hangingPunct="0">
              <a:spcBef>
                <a:spcPct val="0"/>
              </a:spcBef>
              <a:spcAft>
                <a:spcPct val="0"/>
              </a:spcAft>
            </a:pPr>
            <a:endParaRPr lang="en-US" altLang="en-US" sz="2200" b="1"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200" b="1" dirty="0">
                <a:latin typeface="Times New Roman" panose="02020603050405020304" pitchFamily="18" charset="0"/>
                <a:cs typeface="Times New Roman" panose="02020603050405020304" pitchFamily="18" charset="0"/>
              </a:rPr>
              <a:t>Frameworks &amp; Libraries:</a:t>
            </a:r>
            <a:r>
              <a:rPr lang="en-US" altLang="en-US" sz="2200" dirty="0">
                <a:latin typeface="Times New Roman" panose="02020603050405020304" pitchFamily="18" charset="0"/>
                <a:cs typeface="Times New Roman" panose="02020603050405020304" pitchFamily="18" charset="0"/>
              </a:rPr>
              <a:t> TensorFlow/ </a:t>
            </a:r>
            <a:r>
              <a:rPr lang="en-US" altLang="en-US" sz="2200" dirty="0" err="1">
                <a:latin typeface="Times New Roman" panose="02020603050405020304" pitchFamily="18" charset="0"/>
                <a:cs typeface="Times New Roman" panose="02020603050405020304" pitchFamily="18" charset="0"/>
              </a:rPr>
              <a:t>PyTorch</a:t>
            </a:r>
            <a:r>
              <a:rPr lang="en-US" altLang="en-US" sz="2200" dirty="0">
                <a:latin typeface="Times New Roman" panose="02020603050405020304" pitchFamily="18" charset="0"/>
                <a:cs typeface="Times New Roman" panose="02020603050405020304" pitchFamily="18" charset="0"/>
              </a:rPr>
              <a:t>, OpenCV, NumPy, Pandas, Scikit-learn</a:t>
            </a:r>
            <a:br>
              <a:rPr lang="en-US" altLang="en-US" sz="2200" dirty="0">
                <a:latin typeface="Times New Roman" panose="02020603050405020304" pitchFamily="18" charset="0"/>
                <a:cs typeface="Times New Roman" panose="02020603050405020304" pitchFamily="18" charset="0"/>
              </a:rPr>
            </a:br>
            <a:endParaRPr lang="en-US" altLang="en-US" sz="22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200" b="1" dirty="0">
                <a:latin typeface="Times New Roman" panose="02020603050405020304" pitchFamily="18" charset="0"/>
                <a:cs typeface="Times New Roman" panose="02020603050405020304" pitchFamily="18" charset="0"/>
              </a:rPr>
              <a:t>Web Framework:</a:t>
            </a:r>
            <a:r>
              <a:rPr lang="en-US" altLang="en-US" sz="2200" dirty="0">
                <a:latin typeface="Times New Roman" panose="02020603050405020304" pitchFamily="18" charset="0"/>
                <a:cs typeface="Times New Roman" panose="02020603050405020304" pitchFamily="18" charset="0"/>
              </a:rPr>
              <a:t> Flask or </a:t>
            </a:r>
            <a:r>
              <a:rPr lang="en-US" altLang="en-US" sz="2200" dirty="0" err="1">
                <a:latin typeface="Times New Roman" panose="02020603050405020304" pitchFamily="18" charset="0"/>
                <a:cs typeface="Times New Roman" panose="02020603050405020304" pitchFamily="18" charset="0"/>
              </a:rPr>
              <a:t>FastAPI</a:t>
            </a:r>
            <a:r>
              <a:rPr lang="en-US" altLang="en-US" sz="2200" dirty="0">
                <a:latin typeface="Times New Roman" panose="02020603050405020304" pitchFamily="18" charset="0"/>
                <a:cs typeface="Times New Roman" panose="02020603050405020304" pitchFamily="18" charset="0"/>
              </a:rPr>
              <a:t> for backend deployment.</a:t>
            </a:r>
            <a:br>
              <a:rPr lang="en-US" altLang="en-US" sz="2200" dirty="0">
                <a:latin typeface="Times New Roman" panose="02020603050405020304" pitchFamily="18" charset="0"/>
                <a:cs typeface="Times New Roman" panose="02020603050405020304" pitchFamily="18" charset="0"/>
              </a:rPr>
            </a:br>
            <a:endParaRPr lang="en-US" altLang="en-US" sz="22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200" b="1" dirty="0">
                <a:latin typeface="Times New Roman" panose="02020603050405020304" pitchFamily="18" charset="0"/>
                <a:cs typeface="Times New Roman" panose="02020603050405020304" pitchFamily="18" charset="0"/>
              </a:rPr>
              <a:t>Version Control:</a:t>
            </a:r>
            <a:r>
              <a:rPr lang="en-US" altLang="en-US" sz="2200" dirty="0">
                <a:latin typeface="Times New Roman" panose="02020603050405020304" pitchFamily="18" charset="0"/>
                <a:cs typeface="Times New Roman" panose="02020603050405020304" pitchFamily="18" charset="0"/>
              </a:rPr>
              <a:t> Git / GitHub for code management.</a:t>
            </a:r>
            <a:br>
              <a:rPr lang="en-US" altLang="en-US" sz="2200" dirty="0">
                <a:latin typeface="Times New Roman" panose="02020603050405020304" pitchFamily="18" charset="0"/>
                <a:cs typeface="Times New Roman" panose="02020603050405020304" pitchFamily="18" charset="0"/>
              </a:rPr>
            </a:br>
            <a:endParaRPr lang="en-US" altLang="en-US" sz="22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200" b="1" dirty="0">
                <a:latin typeface="Times New Roman" panose="02020603050405020304" pitchFamily="18" charset="0"/>
                <a:cs typeface="Times New Roman" panose="02020603050405020304" pitchFamily="18" charset="0"/>
              </a:rPr>
              <a:t>IDE / Tools:</a:t>
            </a:r>
            <a:r>
              <a:rPr lang="en-US" altLang="en-US" sz="2200" dirty="0">
                <a:latin typeface="Times New Roman" panose="02020603050405020304" pitchFamily="18" charset="0"/>
                <a:cs typeface="Times New Roman" panose="02020603050405020304" pitchFamily="18" charset="0"/>
              </a:rPr>
              <a:t> VS Code, </a:t>
            </a:r>
            <a:r>
              <a:rPr lang="en-US" altLang="en-US" sz="2200" dirty="0" err="1">
                <a:latin typeface="Times New Roman" panose="02020603050405020304" pitchFamily="18" charset="0"/>
                <a:cs typeface="Times New Roman" panose="02020603050405020304" pitchFamily="18" charset="0"/>
              </a:rPr>
              <a:t>Jupyter</a:t>
            </a:r>
            <a:r>
              <a:rPr lang="en-US" altLang="en-US" sz="2200" dirty="0">
                <a:latin typeface="Times New Roman" panose="02020603050405020304" pitchFamily="18" charset="0"/>
                <a:cs typeface="Times New Roman" panose="02020603050405020304" pitchFamily="18" charset="0"/>
              </a:rPr>
              <a:t> Notebook.</a:t>
            </a:r>
          </a:p>
        </p:txBody>
      </p:sp>
    </p:spTree>
    <p:extLst>
      <p:ext uri="{BB962C8B-B14F-4D97-AF65-F5344CB8AC3E}">
        <p14:creationId xmlns:p14="http://schemas.microsoft.com/office/powerpoint/2010/main" val="4124847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3572-BD92-435E-9CA9-CFAC81BDE4B9}"/>
              </a:ext>
            </a:extLst>
          </p:cNvPr>
          <p:cNvSpPr>
            <a:spLocks noGrp="1"/>
          </p:cNvSpPr>
          <p:nvPr>
            <p:ph type="title"/>
          </p:nvPr>
        </p:nvSpPr>
        <p:spPr>
          <a:xfrm>
            <a:off x="1126958" y="716877"/>
            <a:ext cx="9277952" cy="746164"/>
          </a:xfrm>
          <a:solidFill>
            <a:schemeClr val="accent1">
              <a:lumMod val="20000"/>
              <a:lumOff val="80000"/>
            </a:schemeClr>
          </a:solidFill>
        </p:spPr>
        <p:txBody>
          <a:bodyPr/>
          <a:lstStyle/>
          <a:p>
            <a:pPr algn="ctr"/>
            <a:r>
              <a:rPr lang="en-IN" dirty="0"/>
              <a:t>Hardware Requirements </a:t>
            </a:r>
          </a:p>
        </p:txBody>
      </p:sp>
      <p:sp>
        <p:nvSpPr>
          <p:cNvPr id="4" name="Date Placeholder 3">
            <a:extLst>
              <a:ext uri="{FF2B5EF4-FFF2-40B4-BE49-F238E27FC236}">
                <a16:creationId xmlns:a16="http://schemas.microsoft.com/office/drawing/2014/main" id="{DEF1859C-A24F-603B-17C5-5FD93F107296}"/>
              </a:ext>
            </a:extLst>
          </p:cNvPr>
          <p:cNvSpPr>
            <a:spLocks noGrp="1"/>
          </p:cNvSpPr>
          <p:nvPr>
            <p:ph type="dt" sz="half" idx="10"/>
          </p:nvPr>
        </p:nvSpPr>
        <p:spPr/>
        <p:txBody>
          <a:bodyPr/>
          <a:lstStyle/>
          <a:p>
            <a:fld id="{682AC585-1645-46F5-ACA9-835D8AC4E55F}" type="datetime1">
              <a:rPr lang="en-IN" smtClean="0"/>
              <a:t>13-11-2025</a:t>
            </a:fld>
            <a:endParaRPr lang="en-IN" dirty="0"/>
          </a:p>
        </p:txBody>
      </p:sp>
      <p:sp>
        <p:nvSpPr>
          <p:cNvPr id="5" name="Footer Placeholder 4">
            <a:extLst>
              <a:ext uri="{FF2B5EF4-FFF2-40B4-BE49-F238E27FC236}">
                <a16:creationId xmlns:a16="http://schemas.microsoft.com/office/drawing/2014/main" id="{59FB58DE-8D1C-BB1A-ED0C-99285B1E3C25}"/>
              </a:ext>
            </a:extLst>
          </p:cNvPr>
          <p:cNvSpPr>
            <a:spLocks noGrp="1"/>
          </p:cNvSpPr>
          <p:nvPr>
            <p:ph type="ftr" sz="quarter" idx="11"/>
          </p:nvPr>
        </p:nvSpPr>
        <p:spPr/>
        <p:txBody>
          <a:bodyPr/>
          <a:lstStyle/>
          <a:p>
            <a:r>
              <a:rPr lang="en-IN"/>
              <a:t>Dept. of CSE(AI &amp; ML)</a:t>
            </a:r>
            <a:endParaRPr lang="en-IN" dirty="0"/>
          </a:p>
        </p:txBody>
      </p:sp>
      <p:sp>
        <p:nvSpPr>
          <p:cNvPr id="6" name="Slide Number Placeholder 5">
            <a:extLst>
              <a:ext uri="{FF2B5EF4-FFF2-40B4-BE49-F238E27FC236}">
                <a16:creationId xmlns:a16="http://schemas.microsoft.com/office/drawing/2014/main" id="{CAF932A2-C4DA-5B31-530E-BB9D74A1FD27}"/>
              </a:ext>
            </a:extLst>
          </p:cNvPr>
          <p:cNvSpPr>
            <a:spLocks noGrp="1"/>
          </p:cNvSpPr>
          <p:nvPr>
            <p:ph type="sldNum" sz="quarter" idx="12"/>
          </p:nvPr>
        </p:nvSpPr>
        <p:spPr/>
        <p:txBody>
          <a:bodyPr/>
          <a:lstStyle/>
          <a:p>
            <a:fld id="{FE253CD5-3756-4B7F-AB8B-4701AC774AF0}" type="slidenum">
              <a:rPr lang="en-IN" smtClean="0"/>
              <a:t>11</a:t>
            </a:fld>
            <a:endParaRPr lang="en-IN" dirty="0"/>
          </a:p>
        </p:txBody>
      </p:sp>
      <p:sp>
        <p:nvSpPr>
          <p:cNvPr id="7" name="Rectangle 1">
            <a:extLst>
              <a:ext uri="{FF2B5EF4-FFF2-40B4-BE49-F238E27FC236}">
                <a16:creationId xmlns:a16="http://schemas.microsoft.com/office/drawing/2014/main" id="{8F9D435E-7747-560B-4831-922D9A1CD774}"/>
              </a:ext>
            </a:extLst>
          </p:cNvPr>
          <p:cNvSpPr>
            <a:spLocks noGrp="1" noChangeArrowheads="1"/>
          </p:cNvSpPr>
          <p:nvPr>
            <p:ph idx="1"/>
          </p:nvPr>
        </p:nvSpPr>
        <p:spPr bwMode="auto">
          <a:xfrm>
            <a:off x="446314" y="1550035"/>
            <a:ext cx="1146354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200" b="1" i="0" u="none" strike="noStrike" cap="none" normalizeH="0" baseline="0" dirty="0">
                <a:ln>
                  <a:noFill/>
                </a:ln>
                <a:solidFill>
                  <a:schemeClr val="tx1"/>
                </a:solidFill>
                <a:effectLst/>
                <a:cs typeface="Times New Roman" panose="02020603050405020304" pitchFamily="18" charset="0"/>
              </a:rPr>
              <a:t>Processor:</a:t>
            </a:r>
            <a:r>
              <a:rPr kumimoji="0" lang="en-US" altLang="en-US" sz="2200" b="0" i="0" u="none" strike="noStrike" cap="none" normalizeH="0" baseline="0" dirty="0">
                <a:ln>
                  <a:noFill/>
                </a:ln>
                <a:solidFill>
                  <a:schemeClr val="tx1"/>
                </a:solidFill>
                <a:effectLst/>
                <a:cs typeface="Times New Roman" panose="02020603050405020304" pitchFamily="18" charset="0"/>
              </a:rPr>
              <a:t> Minimum Intel i5</a:t>
            </a:r>
            <a:br>
              <a:rPr kumimoji="0" lang="en-US" altLang="en-US" sz="2200" b="0" i="0" u="none" strike="noStrike" cap="none" normalizeH="0" baseline="0" dirty="0">
                <a:ln>
                  <a:noFill/>
                </a:ln>
                <a:solidFill>
                  <a:schemeClr val="tx1"/>
                </a:solidFill>
                <a:effectLst/>
                <a:cs typeface="Times New Roman" panose="02020603050405020304" pitchFamily="18" charset="0"/>
              </a:rPr>
            </a:br>
            <a:endParaRPr kumimoji="0" lang="en-US" altLang="en-US" sz="2200" b="0" i="0" u="none" strike="noStrike" cap="none" normalizeH="0" baseline="0" dirty="0">
              <a:ln>
                <a:noFill/>
              </a:ln>
              <a:solidFill>
                <a:schemeClr val="tx1"/>
              </a:solidFill>
              <a:effectLst/>
              <a:cs typeface="Times New Roman" panose="02020603050405020304" pitchFamily="18" charset="0"/>
            </a:endParaRPr>
          </a:p>
          <a:p>
            <a:pPr eaLnBrk="0" fontAlgn="base" hangingPunct="0">
              <a:lnSpc>
                <a:spcPct val="100000"/>
              </a:lnSpc>
              <a:spcBef>
                <a:spcPct val="0"/>
              </a:spcBef>
              <a:spcAft>
                <a:spcPct val="0"/>
              </a:spcAft>
            </a:pPr>
            <a:r>
              <a:rPr kumimoji="0" lang="en-US" altLang="en-US" sz="2200" b="1" i="0" u="none" strike="noStrike" cap="none" normalizeH="0" baseline="0" dirty="0">
                <a:ln>
                  <a:noFill/>
                </a:ln>
                <a:solidFill>
                  <a:schemeClr val="tx1"/>
                </a:solidFill>
                <a:effectLst/>
                <a:cs typeface="Times New Roman" panose="02020603050405020304" pitchFamily="18" charset="0"/>
              </a:rPr>
              <a:t>RAM:</a:t>
            </a:r>
            <a:r>
              <a:rPr kumimoji="0" lang="en-US" altLang="en-US" sz="2200" b="0" i="0" u="none" strike="noStrike" cap="none" normalizeH="0" baseline="0" dirty="0">
                <a:ln>
                  <a:noFill/>
                </a:ln>
                <a:solidFill>
                  <a:schemeClr val="tx1"/>
                </a:solidFill>
                <a:effectLst/>
                <a:cs typeface="Times New Roman" panose="02020603050405020304" pitchFamily="18" charset="0"/>
              </a:rPr>
              <a:t> At least 8 GB</a:t>
            </a:r>
            <a:br>
              <a:rPr kumimoji="0" lang="en-US" altLang="en-US" sz="2200" b="0" i="0" u="none" strike="noStrike" cap="none" normalizeH="0" baseline="0" dirty="0">
                <a:ln>
                  <a:noFill/>
                </a:ln>
                <a:solidFill>
                  <a:schemeClr val="tx1"/>
                </a:solidFill>
                <a:effectLst/>
                <a:cs typeface="Times New Roman" panose="02020603050405020304" pitchFamily="18" charset="0"/>
              </a:rPr>
            </a:br>
            <a:endParaRPr kumimoji="0" lang="en-US" altLang="en-US" sz="2200" b="0" i="0" u="none" strike="noStrike" cap="none" normalizeH="0" baseline="0" dirty="0">
              <a:ln>
                <a:noFill/>
              </a:ln>
              <a:solidFill>
                <a:schemeClr val="tx1"/>
              </a:solidFill>
              <a:effectLst/>
              <a:cs typeface="Times New Roman" panose="02020603050405020304" pitchFamily="18" charset="0"/>
            </a:endParaRPr>
          </a:p>
          <a:p>
            <a:pPr eaLnBrk="0" fontAlgn="base" hangingPunct="0">
              <a:lnSpc>
                <a:spcPct val="100000"/>
              </a:lnSpc>
              <a:spcBef>
                <a:spcPct val="0"/>
              </a:spcBef>
              <a:spcAft>
                <a:spcPct val="0"/>
              </a:spcAft>
            </a:pPr>
            <a:r>
              <a:rPr kumimoji="0" lang="en-US" altLang="en-US" sz="2200" b="1" i="0" u="none" strike="noStrike" cap="none" normalizeH="0" baseline="0" dirty="0">
                <a:ln>
                  <a:noFill/>
                </a:ln>
                <a:solidFill>
                  <a:schemeClr val="tx1"/>
                </a:solidFill>
                <a:effectLst/>
                <a:cs typeface="Times New Roman" panose="02020603050405020304" pitchFamily="18" charset="0"/>
              </a:rPr>
              <a:t>Storage:</a:t>
            </a:r>
            <a:r>
              <a:rPr kumimoji="0" lang="en-US" altLang="en-US" sz="2200" b="0" i="0" u="none" strike="noStrike" cap="none" normalizeH="0" baseline="0" dirty="0">
                <a:ln>
                  <a:noFill/>
                </a:ln>
                <a:solidFill>
                  <a:schemeClr val="tx1"/>
                </a:solidFill>
                <a:effectLst/>
                <a:cs typeface="Times New Roman" panose="02020603050405020304" pitchFamily="18" charset="0"/>
              </a:rPr>
              <a:t> Minimum 500 GB HDD</a:t>
            </a:r>
            <a:br>
              <a:rPr kumimoji="0" lang="en-US" altLang="en-US" sz="2200" b="0" i="0" u="none" strike="noStrike" cap="none" normalizeH="0" baseline="0" dirty="0">
                <a:ln>
                  <a:noFill/>
                </a:ln>
                <a:solidFill>
                  <a:schemeClr val="tx1"/>
                </a:solidFill>
                <a:effectLst/>
                <a:cs typeface="Times New Roman" panose="02020603050405020304" pitchFamily="18" charset="0"/>
              </a:rPr>
            </a:br>
            <a:endParaRPr kumimoji="0" lang="en-US" altLang="en-US" sz="2200" b="0" i="0" u="none" strike="noStrike" cap="none" normalizeH="0" baseline="0" dirty="0">
              <a:ln>
                <a:noFill/>
              </a:ln>
              <a:solidFill>
                <a:schemeClr val="tx1"/>
              </a:solidFill>
              <a:effectLst/>
              <a:cs typeface="Times New Roman" panose="02020603050405020304" pitchFamily="18" charset="0"/>
            </a:endParaRPr>
          </a:p>
          <a:p>
            <a:pPr eaLnBrk="0" fontAlgn="base" hangingPunct="0">
              <a:lnSpc>
                <a:spcPct val="100000"/>
              </a:lnSpc>
              <a:spcBef>
                <a:spcPct val="0"/>
              </a:spcBef>
              <a:spcAft>
                <a:spcPct val="0"/>
              </a:spcAft>
            </a:pPr>
            <a:r>
              <a:rPr kumimoji="0" lang="en-US" altLang="en-US" sz="2200" b="1" i="0" u="none" strike="noStrike" cap="none" normalizeH="0" baseline="0" dirty="0">
                <a:ln>
                  <a:noFill/>
                </a:ln>
                <a:solidFill>
                  <a:schemeClr val="tx1"/>
                </a:solidFill>
                <a:effectLst/>
                <a:cs typeface="Times New Roman" panose="02020603050405020304" pitchFamily="18" charset="0"/>
              </a:rPr>
              <a:t>Display:</a:t>
            </a:r>
            <a:r>
              <a:rPr kumimoji="0" lang="en-US" altLang="en-US" sz="2200" b="0" i="0" u="none" strike="noStrike" cap="none" normalizeH="0" baseline="0" dirty="0">
                <a:ln>
                  <a:noFill/>
                </a:ln>
                <a:solidFill>
                  <a:schemeClr val="tx1"/>
                </a:solidFill>
                <a:effectLst/>
                <a:cs typeface="Times New Roman" panose="02020603050405020304" pitchFamily="18" charset="0"/>
              </a:rPr>
              <a:t> Full HD (1920×1080) or higher for viewing medical images clearly.</a:t>
            </a:r>
            <a:br>
              <a:rPr kumimoji="0" lang="en-US" altLang="en-US" sz="2200" b="0" i="0" u="none" strike="noStrike" cap="none" normalizeH="0" baseline="0" dirty="0">
                <a:ln>
                  <a:noFill/>
                </a:ln>
                <a:solidFill>
                  <a:schemeClr val="tx1"/>
                </a:solidFill>
                <a:effectLst/>
                <a:cs typeface="Times New Roman" panose="02020603050405020304" pitchFamily="18" charset="0"/>
              </a:rPr>
            </a:br>
            <a:endParaRPr kumimoji="0" lang="en-US" altLang="en-US" sz="2200" b="0" i="0" u="none" strike="noStrike" cap="none" normalizeH="0" baseline="0" dirty="0">
              <a:ln>
                <a:noFill/>
              </a:ln>
              <a:solidFill>
                <a:schemeClr val="tx1"/>
              </a:solidFill>
              <a:effectLst/>
              <a:cs typeface="Times New Roman" panose="02020603050405020304" pitchFamily="18" charset="0"/>
            </a:endParaRPr>
          </a:p>
          <a:p>
            <a:pPr eaLnBrk="0" fontAlgn="base" hangingPunct="0">
              <a:lnSpc>
                <a:spcPct val="100000"/>
              </a:lnSpc>
              <a:spcBef>
                <a:spcPct val="0"/>
              </a:spcBef>
              <a:spcAft>
                <a:spcPct val="0"/>
              </a:spcAft>
            </a:pPr>
            <a:r>
              <a:rPr kumimoji="0" lang="en-US" altLang="en-US" sz="2200" b="1" i="0" u="none" strike="noStrike" cap="none" normalizeH="0" baseline="0" dirty="0">
                <a:ln>
                  <a:noFill/>
                </a:ln>
                <a:solidFill>
                  <a:schemeClr val="tx1"/>
                </a:solidFill>
                <a:effectLst/>
                <a:cs typeface="Times New Roman" panose="02020603050405020304" pitchFamily="18" charset="0"/>
              </a:rPr>
              <a:t>Network:</a:t>
            </a:r>
            <a:r>
              <a:rPr kumimoji="0" lang="en-US" altLang="en-US" sz="2200" b="0" i="0" u="none" strike="noStrike" cap="none" normalizeH="0" baseline="0" dirty="0">
                <a:ln>
                  <a:noFill/>
                </a:ln>
                <a:solidFill>
                  <a:schemeClr val="tx1"/>
                </a:solidFill>
                <a:effectLst/>
                <a:cs typeface="Times New Roman" panose="02020603050405020304" pitchFamily="18" charset="0"/>
              </a:rPr>
              <a:t> Stable broadband or LAN connection for cloud data access and model updates.</a:t>
            </a:r>
          </a:p>
        </p:txBody>
      </p:sp>
    </p:spTree>
    <p:extLst>
      <p:ext uri="{BB962C8B-B14F-4D97-AF65-F5344CB8AC3E}">
        <p14:creationId xmlns:p14="http://schemas.microsoft.com/office/powerpoint/2010/main" val="1627364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9BD838-BCCC-92E3-19AF-11E7CB9A27F5}"/>
              </a:ext>
            </a:extLst>
          </p:cNvPr>
          <p:cNvSpPr txBox="1"/>
          <p:nvPr/>
        </p:nvSpPr>
        <p:spPr>
          <a:xfrm>
            <a:off x="1740569" y="2644170"/>
            <a:ext cx="8710862" cy="1569660"/>
          </a:xfrm>
          <a:prstGeom prst="rect">
            <a:avLst/>
          </a:prstGeom>
          <a:solidFill>
            <a:schemeClr val="accent1">
              <a:lumMod val="20000"/>
              <a:lumOff val="80000"/>
            </a:schemeClr>
          </a:solidFill>
          <a:effectLst>
            <a:glow rad="63500">
              <a:schemeClr val="accent3">
                <a:satMod val="175000"/>
                <a:alpha val="40000"/>
              </a:schemeClr>
            </a:glow>
            <a:softEdge rad="31750"/>
          </a:effectLst>
          <a:scene3d>
            <a:camera prst="orthographicFront"/>
            <a:lightRig rig="threePt" dir="t"/>
          </a:scene3d>
          <a:sp3d>
            <a:bevelT/>
          </a:sp3d>
        </p:spPr>
        <p:txBody>
          <a:bodyPr wrap="square" rtlCol="0">
            <a:spAutoFit/>
          </a:bodyPr>
          <a:lstStyle/>
          <a:p>
            <a:pPr algn="ctr"/>
            <a:r>
              <a:rPr lang="en-US" sz="9600" dirty="0">
                <a:latin typeface="Times New Roman" panose="02020603050405020304" pitchFamily="18" charset="0"/>
                <a:ea typeface="Roboto" panose="02000000000000000000" pitchFamily="2" charset="0"/>
              </a:rPr>
              <a:t>Thank You</a:t>
            </a:r>
            <a:endParaRPr lang="en-IN" sz="9600" dirty="0">
              <a:latin typeface="Times New Roman" panose="02020603050405020304" pitchFamily="18" charset="0"/>
              <a:ea typeface="Roboto" panose="02000000000000000000" pitchFamily="2" charset="0"/>
            </a:endParaRPr>
          </a:p>
        </p:txBody>
      </p:sp>
      <p:sp>
        <p:nvSpPr>
          <p:cNvPr id="2" name="Date Placeholder 1"/>
          <p:cNvSpPr>
            <a:spLocks noGrp="1"/>
          </p:cNvSpPr>
          <p:nvPr>
            <p:ph type="dt" sz="half" idx="10"/>
          </p:nvPr>
        </p:nvSpPr>
        <p:spPr/>
        <p:txBody>
          <a:bodyPr/>
          <a:lstStyle/>
          <a:p>
            <a:fld id="{85572454-229B-45EB-85E5-7F6E35920A53}" type="datetime1">
              <a:rPr lang="en-IN" smtClean="0"/>
              <a:t>13-11-2025</a:t>
            </a:fld>
            <a:endParaRPr lang="en-IN" dirty="0"/>
          </a:p>
        </p:txBody>
      </p:sp>
      <p:sp>
        <p:nvSpPr>
          <p:cNvPr id="3" name="Slide Number Placeholder 2"/>
          <p:cNvSpPr>
            <a:spLocks noGrp="1"/>
          </p:cNvSpPr>
          <p:nvPr>
            <p:ph type="sldNum" sz="quarter" idx="12"/>
          </p:nvPr>
        </p:nvSpPr>
        <p:spPr/>
        <p:txBody>
          <a:bodyPr/>
          <a:lstStyle/>
          <a:p>
            <a:fld id="{FE253CD5-3756-4B7F-AB8B-4701AC774AF0}" type="slidenum">
              <a:rPr lang="en-IN" smtClean="0"/>
              <a:t>12</a:t>
            </a:fld>
            <a:endParaRPr lang="en-IN" dirty="0"/>
          </a:p>
        </p:txBody>
      </p:sp>
      <p:sp>
        <p:nvSpPr>
          <p:cNvPr id="5" name="Footer Placeholder 4"/>
          <p:cNvSpPr>
            <a:spLocks noGrp="1"/>
          </p:cNvSpPr>
          <p:nvPr>
            <p:ph type="ftr" sz="quarter" idx="11"/>
          </p:nvPr>
        </p:nvSpPr>
        <p:spPr/>
        <p:txBody>
          <a:bodyPr/>
          <a:lstStyle/>
          <a:p>
            <a:r>
              <a:rPr lang="en-IN"/>
              <a:t>Dept. of CSE(AI &amp; ML)</a:t>
            </a:r>
            <a:endParaRPr lang="en-IN" dirty="0"/>
          </a:p>
        </p:txBody>
      </p:sp>
    </p:spTree>
    <p:extLst>
      <p:ext uri="{BB962C8B-B14F-4D97-AF65-F5344CB8AC3E}">
        <p14:creationId xmlns:p14="http://schemas.microsoft.com/office/powerpoint/2010/main" val="39341647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TotalTime>
  <Words>1506</Words>
  <Application>Microsoft Office PowerPoint</Application>
  <PresentationFormat>Widescreen</PresentationFormat>
  <Paragraphs>138</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Poppins</vt:lpstr>
      <vt:lpstr>Times New Roman</vt:lpstr>
      <vt:lpstr>Office Theme</vt:lpstr>
      <vt:lpstr>PowerPoint Presentation</vt:lpstr>
      <vt:lpstr>Abstract</vt:lpstr>
      <vt:lpstr>Introduction</vt:lpstr>
      <vt:lpstr>Objective</vt:lpstr>
      <vt:lpstr>Problem Statement</vt:lpstr>
      <vt:lpstr>Existing system &amp; drawbacks</vt:lpstr>
      <vt:lpstr>Literature Review:</vt:lpstr>
      <vt:lpstr>Proposed Solution</vt:lpstr>
      <vt:lpstr>SYSTEM REQUIREMENTS</vt:lpstr>
      <vt:lpstr>Software Requirements</vt:lpstr>
      <vt:lpstr>Hardware Requirements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Blue c</dc:creator>
  <cp:lastModifiedBy>siri chandana</cp:lastModifiedBy>
  <cp:revision>18</cp:revision>
  <dcterms:created xsi:type="dcterms:W3CDTF">2023-11-25T13:08:19Z</dcterms:created>
  <dcterms:modified xsi:type="dcterms:W3CDTF">2025-11-13T12:13:55Z</dcterms:modified>
</cp:coreProperties>
</file>